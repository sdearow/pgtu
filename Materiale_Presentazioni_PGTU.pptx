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9" r:id="rId14"/>
    <p:sldId id="275" r:id="rId15"/>
    <p:sldId id="276" r:id="rId16"/>
    <p:sldId id="277" r:id="rId17"/>
    <p:sldId id="278" r:id="rId18"/>
    <p:sldId id="269" r:id="rId19"/>
    <p:sldId id="270" r:id="rId20"/>
    <p:sldId id="271" r:id="rId21"/>
    <p:sldId id="272" r:id="rId22"/>
    <p:sldId id="273" r:id="rId23"/>
    <p:sldId id="274" r:id="rId2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90" y="59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86FAF4-67CB-4C9F-9CC4-7952D9825D7C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859A6A-2BAD-4E22-AE4F-FF339FB4EAB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9682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59A6A-2BAD-4E22-AE4F-FF339FB4EABF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7793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F8510-F761-201F-C000-57273C377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40DA9FE-9CD4-3DBB-66E1-5BA4E5CF2C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8F1EB25-4161-B08B-DBAF-A34F723E9B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1B29EB6-8F8F-C2E2-9BA1-698DF36350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59A6A-2BAD-4E22-AE4F-FF339FB4EABF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0168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B60299-E7DD-10F7-C1DD-98608B9921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8C17835-988F-D3ED-8C29-517BCF1E2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A878447-AD02-B9B9-A42B-6D688B315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E233-85CB-4047-8502-6D69A07BB75F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A0E39C3-D4EC-4A05-4FD5-62F733CB2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F291E7A-27FD-D536-2C2D-70ABC9DF0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7449-698E-4FCC-98D0-184A0163BF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6193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4C807E-E5A8-4A63-B06B-65FD64A9D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65A17F-0976-ADF1-F6D6-A374DA3FE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387F1B4-D055-3469-AA0B-E60CD7E39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E233-85CB-4047-8502-6D69A07BB75F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A769346-A9E5-1D63-FA47-9BCBF09AE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B15834A-B877-A84D-1552-755F9A498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7449-698E-4FCC-98D0-184A0163BF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5677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67CDB0-C097-7EBC-7DC3-3CCC90FCD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2483FD8-03E5-92C6-D56F-4B021843F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3832C00-2DF7-DB58-2D50-2C79C124D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E233-85CB-4047-8502-6D69A07BB75F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4F5B559-F4AD-624B-046C-BD391D2A0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B1C33E2-1413-EF59-9B0D-1D998B12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7449-698E-4FCC-98D0-184A0163BF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81353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9AD6A1-B722-F310-E551-F71508FF4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7F9E570-6C12-CF3D-ACCB-031DB66C6A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E3450A7-A0FA-66FA-FC61-36C86C6E7B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C7B5EF6-670F-FAA8-E29C-3921A1422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E233-85CB-4047-8502-6D69A07BB75F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6E95713-5893-A981-54B5-DECBE60C4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1EC194E-13F1-C258-09C1-6E37F015C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7449-698E-4FCC-98D0-184A0163BF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6927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3DD85D-753F-E116-891C-54C2849F8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4FF52FA-546A-AE7C-F5E3-089BA888E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90E75F5-4363-DA54-2E96-303AD6AE1C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8E23DE1-A23F-F02B-07A7-EE9CCDC653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5CDC5B6-2722-F281-4001-2D33CD643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0DE40FD3-FE79-8136-0137-7B0BF8963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E233-85CB-4047-8502-6D69A07BB75F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819449E-2EE4-8FB1-487A-A20C51B19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046678F-BA87-D3E2-0073-AD4D3DCA2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7449-698E-4FCC-98D0-184A0163BF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599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7023F0-5066-9EE0-BD5C-2732E3895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07EE6DC-8527-129D-D1CD-1E789B9D7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E233-85CB-4047-8502-6D69A07BB75F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8CD5F38-6C3B-96E8-628B-E14F700E1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F2606E3-94CB-187E-738B-3000E7DBA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7449-698E-4FCC-98D0-184A0163BF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8157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F32514D-4C9A-F378-7D12-7374E51EB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E233-85CB-4047-8502-6D69A07BB75F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630ACB0-1A5A-BEF0-935F-C695BD6EB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99FC1AF-182F-2985-5A32-7538D32A1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7449-698E-4FCC-98D0-184A0163BF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1783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DBB4E2-C9AF-56B3-7A38-4009606E8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02665-FEC3-5B92-7CE5-3F3170692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CAD473B-BC3D-CC76-F771-4F7A29EB51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357E874-F798-2C98-6AFF-6AE259004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E233-85CB-4047-8502-6D69A07BB75F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E1B8599-CB92-C099-E9AC-3A878D04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2F51201-449A-2862-4661-C5041E32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7449-698E-4FCC-98D0-184A0163BF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0250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A2A23A-133B-F53B-E375-5ED0F512E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E239798-927A-1622-10F0-9F7FF76FD5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4684AE1-D3A2-0C83-C121-74EFE70815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3D3B4AB-D3AD-C2E9-4A0E-60F6FCBF9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E233-85CB-4047-8502-6D69A07BB75F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16C025A-3DFC-C831-D5B8-13A2E32EA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D7682CD-AC42-1B51-106C-4FC505FCC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7449-698E-4FCC-98D0-184A0163BF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1187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E019E3-0FBC-9CB1-75BF-9635258A3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C6237CB-70B7-3E1C-9090-D12F76EEB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E52B974-1E60-461C-E436-6FA140FF9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E233-85CB-4047-8502-6D69A07BB75F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F3165B-C571-F120-A8F5-FE98CC14B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1866E15-13B4-D902-BCC5-EC6AED78E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7449-698E-4FCC-98D0-184A0163BF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7347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95DBA03-3854-A139-AD8E-9DF6B92E82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BFE030C-631C-D723-37AF-067A874797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1BEF19F-088D-64C0-9B4A-1E3FCC5BA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E233-85CB-4047-8502-6D69A07BB75F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2072AC7-4F8A-8395-1582-F82ABBCE9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D2A00AA-CFDA-885C-BDE8-85B103242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7449-698E-4FCC-98D0-184A0163BF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3403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61DFC0C-DC2E-21CC-CF39-DB20F33D1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E1E1D07-737E-C226-8781-480FFD3AA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AA50410-AC47-94E6-9445-4205806278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72E233-85CB-4047-8502-6D69A07BB75F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A878202-6A66-042B-9603-52D7D68C24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8992C56-C11A-E698-7B09-3D0E6FAA7B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1A7449-698E-4FCC-98D0-184A0163BF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3575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DB6457C-2A53-5583-7621-939F218628F5}"/>
              </a:ext>
            </a:extLst>
          </p:cNvPr>
          <p:cNvSpPr txBox="1"/>
          <p:nvPr/>
        </p:nvSpPr>
        <p:spPr>
          <a:xfrm>
            <a:off x="182880" y="173736"/>
            <a:ext cx="11027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atin typeface="Arial" panose="020B0604020202020204" pitchFamily="34" charset="0"/>
                <a:cs typeface="Arial" panose="020B0604020202020204" pitchFamily="34" charset="0"/>
              </a:rPr>
              <a:t>Strumenti di Analisi PGTU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5C3FAE9-5EC9-7588-BEB9-14A096F892CF}"/>
              </a:ext>
            </a:extLst>
          </p:cNvPr>
          <p:cNvSpPr txBox="1"/>
          <p:nvPr/>
        </p:nvSpPr>
        <p:spPr>
          <a:xfrm>
            <a:off x="377190" y="1205841"/>
            <a:ext cx="571881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400" b="1" dirty="0"/>
              <a:t>Impostazione e fonti dati</a:t>
            </a:r>
            <a:endParaRPr lang="it-IT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Cartella di lavoro:</a:t>
            </a:r>
            <a:br>
              <a:rPr lang="it-IT" sz="1400" dirty="0"/>
            </a:br>
            <a:r>
              <a:rPr lang="it-IT" sz="1400" dirty="0">
                <a:latin typeface="Courier New" panose="02070309020205020404" pitchFamily="49" charset="0"/>
              </a:rPr>
              <a:t>.../PGTU/Dati</a:t>
            </a:r>
            <a:r>
              <a:rPr lang="it-IT" sz="1400" dirty="0"/>
              <a:t> per i dati, </a:t>
            </a:r>
            <a:r>
              <a:rPr lang="it-IT" sz="1400" dirty="0">
                <a:latin typeface="Courier New" panose="02070309020205020404" pitchFamily="49" charset="0"/>
              </a:rPr>
              <a:t>.../PGTU/Figure</a:t>
            </a:r>
            <a:r>
              <a:rPr lang="it-IT" sz="1400" dirty="0"/>
              <a:t> per gli output grafici.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 err="1"/>
              <a:t>Geodatabase</a:t>
            </a:r>
            <a:r>
              <a:rPr lang="it-IT" sz="1400" dirty="0"/>
              <a:t> utilizzati: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b="1" dirty="0"/>
              <a:t>TT_FLOW_H24.gdb</a:t>
            </a:r>
            <a:r>
              <a:rPr lang="it-IT" sz="1400" dirty="0"/>
              <a:t>: rete TomTom con flussi di traffico giornalieri.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b="1" dirty="0"/>
              <a:t>REV_PGTU2015.gdb</a:t>
            </a:r>
            <a:r>
              <a:rPr lang="it-IT" sz="1400" dirty="0"/>
              <a:t>: rete PGTU 2015 (</a:t>
            </a:r>
            <a:r>
              <a:rPr lang="it-IT" sz="1400" dirty="0" err="1"/>
              <a:t>layer</a:t>
            </a:r>
            <a:r>
              <a:rPr lang="it-IT" sz="1400" dirty="0"/>
              <a:t> </a:t>
            </a:r>
            <a:r>
              <a:rPr lang="it-IT" sz="1400" b="1" dirty="0"/>
              <a:t>PGTU2015_REV01</a:t>
            </a:r>
            <a:r>
              <a:rPr lang="it-IT" sz="1400" dirty="0"/>
              <a:t>).</a:t>
            </a:r>
          </a:p>
          <a:p>
            <a:pPr>
              <a:buNone/>
            </a:pPr>
            <a:endParaRPr lang="it-IT" sz="1400" b="1" dirty="0"/>
          </a:p>
          <a:p>
            <a:pPr>
              <a:buNone/>
            </a:pPr>
            <a:r>
              <a:rPr lang="it-IT" sz="1400" b="1" dirty="0"/>
              <a:t>Layer caricati</a:t>
            </a:r>
            <a:endParaRPr lang="it-IT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Da </a:t>
            </a:r>
            <a:r>
              <a:rPr lang="it-IT" sz="1400" b="1" dirty="0"/>
              <a:t>TT_FLOW_H24.gdb</a:t>
            </a:r>
            <a:r>
              <a:rPr lang="it-IT" sz="1400" dirty="0"/>
              <a:t> è stato selezionato il </a:t>
            </a:r>
            <a:r>
              <a:rPr lang="it-IT" sz="1400" dirty="0" err="1"/>
              <a:t>layer</a:t>
            </a:r>
            <a:r>
              <a:rPr lang="it-IT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>
                <a:latin typeface="Courier New" panose="02070309020205020404" pitchFamily="49" charset="0"/>
              </a:rPr>
              <a:t>TOT_FLOW_RM_H24_06</a:t>
            </a:r>
            <a:r>
              <a:rPr lang="it-IT" sz="1400" dirty="0"/>
              <a:t> → rete stradale TomTom con flussi H24 (feriale).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Da </a:t>
            </a:r>
            <a:r>
              <a:rPr lang="it-IT" sz="1400" b="1" dirty="0"/>
              <a:t>REV_PGTU2015.gdb</a:t>
            </a:r>
            <a:r>
              <a:rPr lang="it-IT" sz="1400" dirty="0"/>
              <a:t> è stato selezionato il </a:t>
            </a:r>
            <a:r>
              <a:rPr lang="it-IT" sz="1400" dirty="0" err="1"/>
              <a:t>layer</a:t>
            </a:r>
            <a:r>
              <a:rPr lang="it-IT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>
                <a:latin typeface="Courier New" panose="02070309020205020404" pitchFamily="49" charset="0"/>
              </a:rPr>
              <a:t>PGTU2015_REV01</a:t>
            </a:r>
            <a:r>
              <a:rPr lang="it-IT" sz="1400" dirty="0"/>
              <a:t> → rete principale PGTU.</a:t>
            </a:r>
          </a:p>
          <a:p>
            <a:pPr>
              <a:buNone/>
            </a:pPr>
            <a:endParaRPr lang="it-IT" sz="1400" b="1" dirty="0"/>
          </a:p>
          <a:p>
            <a:pPr>
              <a:buNone/>
            </a:pPr>
            <a:r>
              <a:rPr lang="it-IT" sz="1400" b="1" dirty="0"/>
              <a:t>Consistenza geometrica</a:t>
            </a:r>
            <a:endParaRPr lang="it-IT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Numero archi: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/>
              <a:t>Rete TomTom: </a:t>
            </a:r>
            <a:r>
              <a:rPr lang="it-IT" sz="1400" b="1" dirty="0"/>
              <a:t>94.148 archi</a:t>
            </a:r>
            <a:r>
              <a:rPr lang="it-IT" sz="14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/>
              <a:t>Rete PGTU: </a:t>
            </a:r>
            <a:r>
              <a:rPr lang="it-IT" sz="1400" b="1" dirty="0"/>
              <a:t>1.301 archi</a:t>
            </a:r>
            <a:r>
              <a:rPr lang="it-IT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Sistema di riferimento: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/>
              <a:t>TomTom: </a:t>
            </a:r>
            <a:r>
              <a:rPr lang="it-IT" sz="1400" b="1" dirty="0"/>
              <a:t>EPSG:3004</a:t>
            </a:r>
            <a:endParaRPr lang="it-IT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/>
              <a:t>PGTU: </a:t>
            </a:r>
            <a:r>
              <a:rPr lang="it-IT" sz="1400" b="1" dirty="0"/>
              <a:t>EPSG:3004</a:t>
            </a:r>
            <a:br>
              <a:rPr lang="it-IT" sz="1400" dirty="0"/>
            </a:br>
            <a:r>
              <a:rPr lang="it-IT" sz="1400" dirty="0"/>
              <a:t>→ </a:t>
            </a:r>
            <a:r>
              <a:rPr lang="it-IT" sz="1400" b="1" dirty="0"/>
              <a:t>CRS già allineato</a:t>
            </a:r>
            <a:r>
              <a:rPr lang="it-IT" sz="1400" dirty="0"/>
              <a:t>, nessuna </a:t>
            </a:r>
            <a:r>
              <a:rPr lang="it-IT" sz="1400" dirty="0" err="1"/>
              <a:t>riproiezione</a:t>
            </a:r>
            <a:r>
              <a:rPr lang="it-IT" sz="1400" dirty="0"/>
              <a:t> necessaria per le analisi successive.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9C5C6FE-23BB-BC86-0A20-3794135B150A}"/>
              </a:ext>
            </a:extLst>
          </p:cNvPr>
          <p:cNvSpPr txBox="1"/>
          <p:nvPr/>
        </p:nvSpPr>
        <p:spPr>
          <a:xfrm>
            <a:off x="6096000" y="1205841"/>
            <a:ext cx="541629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400" b="1" dirty="0"/>
              <a:t>Struttura principale delle tabelle</a:t>
            </a:r>
            <a:endParaRPr lang="it-IT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TomTom (</a:t>
            </a:r>
            <a:r>
              <a:rPr lang="it-IT" sz="1400" dirty="0">
                <a:latin typeface="Courier New" panose="02070309020205020404" pitchFamily="49" charset="0"/>
              </a:rPr>
              <a:t>TOT_FLOW_RM_H24_06</a:t>
            </a:r>
            <a:r>
              <a:rPr lang="it-IT" sz="1400" dirty="0"/>
              <a:t>): contiene, tra le altre, le colonne </a:t>
            </a:r>
            <a:r>
              <a:rPr lang="it-IT" sz="1400" dirty="0">
                <a:latin typeface="Courier New" panose="02070309020205020404" pitchFamily="49" charset="0"/>
              </a:rPr>
              <a:t>Id, </a:t>
            </a:r>
            <a:r>
              <a:rPr lang="it-IT" sz="1400" dirty="0" err="1">
                <a:latin typeface="Courier New" panose="02070309020205020404" pitchFamily="49" charset="0"/>
              </a:rPr>
              <a:t>Segment_Id</a:t>
            </a:r>
            <a:r>
              <a:rPr lang="it-IT" sz="1400" dirty="0">
                <a:latin typeface="Courier New" panose="02070309020205020404" pitchFamily="49" charset="0"/>
              </a:rPr>
              <a:t>, </a:t>
            </a:r>
            <a:r>
              <a:rPr lang="it-IT" sz="1400" dirty="0" err="1">
                <a:latin typeface="Courier New" panose="02070309020205020404" pitchFamily="49" charset="0"/>
              </a:rPr>
              <a:t>Length</a:t>
            </a:r>
            <a:r>
              <a:rPr lang="it-IT" sz="1400" dirty="0">
                <a:latin typeface="Courier New" panose="02070309020205020404" pitchFamily="49" charset="0"/>
              </a:rPr>
              <a:t>, </a:t>
            </a:r>
            <a:r>
              <a:rPr lang="it-IT" sz="1400" dirty="0" err="1">
                <a:latin typeface="Courier New" panose="02070309020205020404" pitchFamily="49" charset="0"/>
              </a:rPr>
              <a:t>StreetName</a:t>
            </a:r>
            <a:r>
              <a:rPr lang="it-IT" sz="1400" dirty="0">
                <a:latin typeface="Courier New" panose="02070309020205020404" pitchFamily="49" charset="0"/>
              </a:rPr>
              <a:t>, VEIC_DAY_TOMTOM, VEIC_DAY_TOT, </a:t>
            </a:r>
            <a:r>
              <a:rPr lang="it-IT" sz="1400" dirty="0" err="1">
                <a:latin typeface="Courier New" panose="02070309020205020404" pitchFamily="49" charset="0"/>
              </a:rPr>
              <a:t>geometry</a:t>
            </a:r>
            <a:r>
              <a:rPr lang="it-IT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PGTU (</a:t>
            </a:r>
            <a:r>
              <a:rPr lang="it-IT" sz="1400" dirty="0">
                <a:latin typeface="Courier New" panose="02070309020205020404" pitchFamily="49" charset="0"/>
              </a:rPr>
              <a:t>PGTU2015_REV01</a:t>
            </a:r>
            <a:r>
              <a:rPr lang="it-IT" sz="1400" dirty="0"/>
              <a:t>): contiene, tra le altre,</a:t>
            </a:r>
            <a:br>
              <a:rPr lang="it-IT" sz="1400" dirty="0"/>
            </a:br>
            <a:r>
              <a:rPr lang="it-IT" sz="1400" dirty="0">
                <a:latin typeface="Courier New" panose="02070309020205020404" pitchFamily="49" charset="0"/>
              </a:rPr>
              <a:t>Id, Classifica, Toponomastica, Nome, Grande_Viabilità_2019, TPL, </a:t>
            </a:r>
            <a:r>
              <a:rPr lang="it-IT" sz="1400" dirty="0" err="1">
                <a:latin typeface="Courier New" panose="02070309020205020404" pitchFamily="49" charset="0"/>
              </a:rPr>
              <a:t>geometry</a:t>
            </a:r>
            <a:r>
              <a:rPr lang="it-IT" sz="1400" dirty="0"/>
              <a:t>.</a:t>
            </a:r>
          </a:p>
          <a:p>
            <a:pPr>
              <a:buNone/>
            </a:pPr>
            <a:endParaRPr lang="it-IT" sz="1400" b="1" dirty="0"/>
          </a:p>
          <a:p>
            <a:pPr>
              <a:buNone/>
            </a:pPr>
            <a:r>
              <a:rPr lang="it-IT" sz="1400" b="1" dirty="0"/>
              <a:t>Chiave identificativa TomTom</a:t>
            </a:r>
            <a:endParaRPr lang="it-IT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La colonna </a:t>
            </a:r>
            <a:r>
              <a:rPr lang="it-IT" sz="1400" dirty="0">
                <a:latin typeface="Courier New" panose="02070309020205020404" pitchFamily="49" charset="0"/>
              </a:rPr>
              <a:t>Id</a:t>
            </a:r>
            <a:r>
              <a:rPr lang="it-IT" sz="1400" dirty="0"/>
              <a:t> nella rete TomTom: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b="1" dirty="0"/>
              <a:t>94.148 valori unici su 94.148 archi</a:t>
            </a:r>
            <a:r>
              <a:rPr lang="it-IT" sz="14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/>
              <a:t>Nessun valore nullo, nessuna duplicazione.</a:t>
            </a:r>
            <a:br>
              <a:rPr lang="it-IT" sz="1400" dirty="0"/>
            </a:br>
            <a:r>
              <a:rPr lang="it-IT" sz="1400" dirty="0"/>
              <a:t>→ </a:t>
            </a:r>
            <a:r>
              <a:rPr lang="it-IT" sz="1400" dirty="0">
                <a:latin typeface="Courier New" panose="02070309020205020404" pitchFamily="49" charset="0"/>
              </a:rPr>
              <a:t>Id</a:t>
            </a:r>
            <a:r>
              <a:rPr lang="it-IT" sz="1400" dirty="0"/>
              <a:t> può essere utilizzato come identificatore univoco degli archi TomTom.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D7B3E1A-3673-2E2F-00D2-63C1AD0278C3}"/>
              </a:ext>
            </a:extLst>
          </p:cNvPr>
          <p:cNvSpPr txBox="1"/>
          <p:nvPr/>
        </p:nvSpPr>
        <p:spPr>
          <a:xfrm>
            <a:off x="308229" y="58206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i="1" dirty="0"/>
              <a:t>Dati di rete e impostazione</a:t>
            </a:r>
          </a:p>
        </p:txBody>
      </p:sp>
    </p:spTree>
    <p:extLst>
      <p:ext uri="{BB962C8B-B14F-4D97-AF65-F5344CB8AC3E}">
        <p14:creationId xmlns:p14="http://schemas.microsoft.com/office/powerpoint/2010/main" val="661464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5D1AF-CA33-688C-BE53-B07F319B1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32499676-EB0F-4AC3-D1B9-C1D117C6C9A5}"/>
              </a:ext>
            </a:extLst>
          </p:cNvPr>
          <p:cNvSpPr txBox="1"/>
          <p:nvPr/>
        </p:nvSpPr>
        <p:spPr>
          <a:xfrm>
            <a:off x="182880" y="173736"/>
            <a:ext cx="11027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atin typeface="Arial" panose="020B0604020202020204" pitchFamily="34" charset="0"/>
                <a:cs typeface="Arial" panose="020B0604020202020204" pitchFamily="34" charset="0"/>
              </a:rPr>
              <a:t>Strumenti di Analisi PGTU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90A0163-4604-14E7-1F8A-49DE8628A8C7}"/>
              </a:ext>
            </a:extLst>
          </p:cNvPr>
          <p:cNvSpPr txBox="1"/>
          <p:nvPr/>
        </p:nvSpPr>
        <p:spPr>
          <a:xfrm>
            <a:off x="308229" y="58206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i="1" dirty="0"/>
              <a:t>Analisi esplorativa dei flussi VEIC_DAY_TOT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0BC8B52-8F37-D756-2EDD-511006EA5B48}"/>
              </a:ext>
            </a:extLst>
          </p:cNvPr>
          <p:cNvSpPr txBox="1"/>
          <p:nvPr/>
        </p:nvSpPr>
        <p:spPr>
          <a:xfrm>
            <a:off x="308229" y="1105286"/>
            <a:ext cx="6094476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400" b="1" dirty="0"/>
              <a:t>Distribuzione dei flussi VEIC_DAY_TOT</a:t>
            </a:r>
            <a:endParaRPr lang="it-IT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Variabile considerata: </a:t>
            </a:r>
            <a:r>
              <a:rPr lang="it-IT" sz="1400" b="1" dirty="0"/>
              <a:t>VEIC_DAY_TOT</a:t>
            </a:r>
            <a:r>
              <a:rPr lang="it-IT" sz="1400" dirty="0"/>
              <a:t> (flusso veicolare medio giornaliero per arco).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Numero di valori non nulli: </a:t>
            </a:r>
            <a:r>
              <a:rPr lang="it-IT" sz="1400" b="1" dirty="0"/>
              <a:t>94.148</a:t>
            </a:r>
            <a:r>
              <a:rPr lang="it-IT" sz="1400" dirty="0"/>
              <a:t> (tutti gli archi TomTom caricati).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Statistiche sintetiche: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/>
              <a:t>Minimo: </a:t>
            </a:r>
            <a:r>
              <a:rPr lang="it-IT" sz="1400" b="1" dirty="0"/>
              <a:t>0 veicoli/giorno</a:t>
            </a:r>
            <a:endParaRPr lang="it-IT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/>
              <a:t>25° percentile: </a:t>
            </a:r>
            <a:r>
              <a:rPr lang="it-IT" sz="1400" b="1" dirty="0"/>
              <a:t>~1.200 veicoli/giorno</a:t>
            </a:r>
            <a:endParaRPr lang="it-IT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/>
              <a:t>Mediana: </a:t>
            </a:r>
            <a:r>
              <a:rPr lang="it-IT" sz="1400" b="1" dirty="0"/>
              <a:t>~4.500 veicoli/giorno</a:t>
            </a:r>
            <a:endParaRPr lang="it-IT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/>
              <a:t>75° percentile: </a:t>
            </a:r>
            <a:r>
              <a:rPr lang="it-IT" sz="1400" b="1" dirty="0"/>
              <a:t>~11.300 veicoli/giorno</a:t>
            </a:r>
            <a:endParaRPr lang="it-IT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/>
              <a:t>Massimo: </a:t>
            </a:r>
            <a:r>
              <a:rPr lang="it-IT" sz="1400" b="1" dirty="0"/>
              <a:t>~90.980 veicoli/giorno</a:t>
            </a:r>
            <a:endParaRPr lang="it-IT" sz="1400" dirty="0"/>
          </a:p>
          <a:p>
            <a:pPr>
              <a:buNone/>
            </a:pPr>
            <a:endParaRPr lang="it-IT" sz="1400" b="1" dirty="0"/>
          </a:p>
          <a:p>
            <a:pPr>
              <a:buNone/>
            </a:pPr>
            <a:r>
              <a:rPr lang="it-IT" sz="1400" b="1" dirty="0"/>
              <a:t>Distribuzione per classi di flusso (conteggio archi)</a:t>
            </a:r>
            <a:endParaRPr lang="it-IT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0–100 veicoli/giorno: </a:t>
            </a:r>
            <a:r>
              <a:rPr lang="it-IT" sz="1400" b="1" dirty="0"/>
              <a:t>6.843 archi</a:t>
            </a:r>
            <a:endParaRPr lang="it-IT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100–500: </a:t>
            </a:r>
            <a:r>
              <a:rPr lang="it-IT" sz="1400" b="1" dirty="0"/>
              <a:t>8.726 archi</a:t>
            </a:r>
            <a:endParaRPr lang="it-IT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500–1.000: </a:t>
            </a:r>
            <a:r>
              <a:rPr lang="it-IT" sz="1400" b="1" dirty="0"/>
              <a:t>5.982 archi</a:t>
            </a:r>
            <a:endParaRPr lang="it-IT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1.000–3.000: </a:t>
            </a:r>
            <a:r>
              <a:rPr lang="it-IT" sz="1400" b="1" dirty="0"/>
              <a:t>16.633 archi</a:t>
            </a:r>
            <a:endParaRPr lang="it-IT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3.000–5.000: </a:t>
            </a:r>
            <a:r>
              <a:rPr lang="it-IT" sz="1400" b="1" dirty="0"/>
              <a:t>11.191 archi</a:t>
            </a:r>
            <a:endParaRPr lang="it-IT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5.000–10.000: </a:t>
            </a:r>
            <a:r>
              <a:rPr lang="it-IT" sz="1400" b="1" dirty="0"/>
              <a:t>18.178 archi</a:t>
            </a:r>
            <a:endParaRPr lang="it-IT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10.000: </a:t>
            </a:r>
            <a:r>
              <a:rPr lang="it-IT" sz="1400" b="1" dirty="0"/>
              <a:t>26.595 archi</a:t>
            </a:r>
          </a:p>
          <a:p>
            <a:endParaRPr lang="it-IT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La rete presenta una </a:t>
            </a:r>
            <a:r>
              <a:rPr lang="it-IT" sz="1400" b="1" dirty="0"/>
              <a:t>componente consistente di archi a bassa intensità</a:t>
            </a:r>
            <a:r>
              <a:rPr lang="it-IT" sz="1400" dirty="0"/>
              <a:t> (sotto i 3.000 veicoli/giorno)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una quota rilevante di archi presenta flussi elevati: oltre </a:t>
            </a:r>
            <a:r>
              <a:rPr lang="it-IT" sz="1400" b="1" dirty="0"/>
              <a:t>44.000 archi</a:t>
            </a:r>
            <a:r>
              <a:rPr lang="it-IT" sz="1400" dirty="0"/>
              <a:t> superano i </a:t>
            </a:r>
            <a:r>
              <a:rPr lang="it-IT" sz="1400" b="1" dirty="0"/>
              <a:t>5.000 veicoli/giorno</a:t>
            </a:r>
            <a:r>
              <a:rPr lang="it-IT" sz="1400" dirty="0"/>
              <a:t>, e più di </a:t>
            </a:r>
            <a:r>
              <a:rPr lang="it-IT" sz="1400" b="1" dirty="0"/>
              <a:t>26.000 archi</a:t>
            </a:r>
            <a:r>
              <a:rPr lang="it-IT" sz="1400" dirty="0"/>
              <a:t> superano i </a:t>
            </a:r>
            <a:r>
              <a:rPr lang="it-IT" sz="1400" b="1" dirty="0"/>
              <a:t>10.000 veicoli/giorno</a:t>
            </a:r>
            <a:r>
              <a:rPr lang="it-IT" sz="1400" dirty="0"/>
              <a:t>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BD5C410-06CB-9880-FB14-AC95A9923BFC}"/>
              </a:ext>
            </a:extLst>
          </p:cNvPr>
          <p:cNvSpPr txBox="1"/>
          <p:nvPr/>
        </p:nvSpPr>
        <p:spPr>
          <a:xfrm>
            <a:off x="6640830" y="314004"/>
            <a:ext cx="524294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400" b="1" dirty="0"/>
              <a:t>Figure</a:t>
            </a:r>
            <a:endParaRPr lang="it-IT" sz="1400" dirty="0"/>
          </a:p>
          <a:p>
            <a:r>
              <a:rPr lang="it-IT" sz="1400" b="1" dirty="0"/>
              <a:t>1) Istogramma completo</a:t>
            </a:r>
            <a:r>
              <a:rPr lang="it-IT" sz="1400" dirty="0"/>
              <a:t> di VEIC_DAY_TOT</a:t>
            </a:r>
            <a:br>
              <a:rPr lang="it-IT" sz="1400" dirty="0"/>
            </a:br>
            <a:r>
              <a:rPr lang="it-IT" sz="1400" dirty="0"/>
              <a:t>File: </a:t>
            </a:r>
            <a:r>
              <a:rPr lang="it-IT" sz="1400" dirty="0">
                <a:latin typeface="Courier New" panose="02070309020205020404" pitchFamily="49" charset="0"/>
              </a:rPr>
              <a:t>istogramma_VEIC_DAY_TOT_tutti.png</a:t>
            </a:r>
            <a:endParaRPr lang="it-IT" sz="1400" dirty="0"/>
          </a:p>
          <a:p>
            <a:r>
              <a:rPr lang="it-IT" sz="1400" b="1" dirty="0"/>
              <a:t>2) Istogramma concentrato sugli archi con VEIC_DAY_TOT &gt; 5.000</a:t>
            </a:r>
            <a:br>
              <a:rPr lang="it-IT" sz="1400" dirty="0"/>
            </a:br>
            <a:r>
              <a:rPr lang="it-IT" sz="1400" dirty="0"/>
              <a:t>File: </a:t>
            </a:r>
            <a:r>
              <a:rPr lang="it-IT" sz="1400" dirty="0">
                <a:latin typeface="Courier New" panose="02070309020205020404" pitchFamily="49" charset="0"/>
              </a:rPr>
              <a:t>istogramma_VEIC_DAY_TOT_over5000.png</a:t>
            </a:r>
            <a:br>
              <a:rPr lang="it-IT" sz="1400" dirty="0"/>
            </a:br>
            <a:r>
              <a:rPr lang="it-IT" sz="1400" dirty="0"/>
              <a:t>→ evidenzia la coda alta della distribuzione.</a:t>
            </a:r>
          </a:p>
        </p:txBody>
      </p:sp>
      <p:pic>
        <p:nvPicPr>
          <p:cNvPr id="11" name="Immagine 10" descr="Immagine che contiene schermata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209F256E-EDCE-0264-9DE9-8264CFF3D2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3136" y="2054711"/>
            <a:ext cx="3885505" cy="2306978"/>
          </a:xfrm>
          <a:prstGeom prst="rect">
            <a:avLst/>
          </a:prstGeom>
        </p:spPr>
      </p:pic>
      <p:pic>
        <p:nvPicPr>
          <p:cNvPr id="13" name="Immagine 12" descr="Immagine che contiene schermata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21D39CEA-71D9-446B-D1ED-0C06F550E6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3136" y="4361688"/>
            <a:ext cx="3885503" cy="230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146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D743C-3882-EC5F-3BA3-C6ECEEE24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FF7D5C1A-3479-8FCD-1334-E15F759BF94A}"/>
              </a:ext>
            </a:extLst>
          </p:cNvPr>
          <p:cNvSpPr txBox="1"/>
          <p:nvPr/>
        </p:nvSpPr>
        <p:spPr>
          <a:xfrm>
            <a:off x="182880" y="173736"/>
            <a:ext cx="11027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atin typeface="Arial" panose="020B0604020202020204" pitchFamily="34" charset="0"/>
                <a:cs typeface="Arial" panose="020B0604020202020204" pitchFamily="34" charset="0"/>
              </a:rPr>
              <a:t>Strumenti di Analisi PGTU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6C5132B-FB63-694A-3EC6-5FD8B3C990F1}"/>
              </a:ext>
            </a:extLst>
          </p:cNvPr>
          <p:cNvSpPr txBox="1"/>
          <p:nvPr/>
        </p:nvSpPr>
        <p:spPr>
          <a:xfrm>
            <a:off x="308229" y="58206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i="1" dirty="0"/>
              <a:t>Mappa archi ad alto flusso e classi di flusso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E6B32C7-8E12-0AC7-DD4E-3C6D2A5BF4B6}"/>
              </a:ext>
            </a:extLst>
          </p:cNvPr>
          <p:cNvSpPr txBox="1"/>
          <p:nvPr/>
        </p:nvSpPr>
        <p:spPr>
          <a:xfrm>
            <a:off x="433578" y="951398"/>
            <a:ext cx="6094476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400" b="1" dirty="0"/>
              <a:t>Selezione archi ad alto flusso</a:t>
            </a:r>
            <a:endParaRPr lang="it-IT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Soglia definita: </a:t>
            </a:r>
            <a:r>
              <a:rPr lang="it-IT" sz="1400" b="1" dirty="0"/>
              <a:t>5.000 veicoli/giorno</a:t>
            </a:r>
            <a:r>
              <a:rPr lang="it-IT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Risultati: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/>
              <a:t>Archi con VEIC_DAY_TOT ≥ 5.000: </a:t>
            </a:r>
            <a:r>
              <a:rPr lang="it-IT" sz="1400" b="1" dirty="0"/>
              <a:t>44.773</a:t>
            </a:r>
            <a:endParaRPr lang="it-IT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/>
              <a:t>Archi con VEIC_DAY_TOT &lt; 5.000: </a:t>
            </a:r>
            <a:r>
              <a:rPr lang="it-IT" sz="1400" b="1" dirty="0"/>
              <a:t>49.375</a:t>
            </a:r>
            <a:br>
              <a:rPr lang="it-IT" sz="1400" dirty="0"/>
            </a:br>
            <a:r>
              <a:rPr lang="it-IT" sz="1400" dirty="0"/>
              <a:t>→ Circa </a:t>
            </a:r>
            <a:r>
              <a:rPr lang="it-IT" sz="1400" b="1" dirty="0"/>
              <a:t>la metà della rete TomTom</a:t>
            </a:r>
            <a:r>
              <a:rPr lang="it-IT" sz="1400" dirty="0"/>
              <a:t> supera i 5.000 veicoli/giorno, identificando un esteso sottosistema di assi ad elevata intensità.</a:t>
            </a:r>
          </a:p>
          <a:p>
            <a:pPr>
              <a:buNone/>
            </a:pPr>
            <a:endParaRPr lang="it-IT" sz="1400" b="1" dirty="0"/>
          </a:p>
          <a:p>
            <a:pPr>
              <a:buNone/>
            </a:pPr>
            <a:r>
              <a:rPr lang="it-IT" sz="1400" b="1" dirty="0"/>
              <a:t>Mappa archi ≥ 5.000 veicoli/giorno</a:t>
            </a:r>
            <a:endParaRPr lang="it-IT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Visualizzazione: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/>
              <a:t>Archi con flusso &lt; 5.000 veicoli/giorno in </a:t>
            </a:r>
            <a:r>
              <a:rPr lang="it-IT" sz="1400" b="1" dirty="0"/>
              <a:t>grigio chiaro</a:t>
            </a:r>
            <a:r>
              <a:rPr lang="it-IT" sz="1400" dirty="0"/>
              <a:t> (sfondo).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/>
              <a:t>Archi con flusso ≥ 5.000 veicoli/giorno in </a:t>
            </a:r>
            <a:r>
              <a:rPr lang="it-IT" sz="1400" b="1" dirty="0"/>
              <a:t>rosso</a:t>
            </a:r>
            <a:r>
              <a:rPr lang="it-IT" sz="1400" dirty="0"/>
              <a:t> e più spessi.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Obiettivo: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/>
              <a:t>Evidenziare spazialmente la </a:t>
            </a:r>
            <a:r>
              <a:rPr lang="it-IT" sz="1400" b="1" dirty="0"/>
              <a:t>struttura della rete più caricata</a:t>
            </a:r>
            <a:r>
              <a:rPr lang="it-IT" sz="1400" dirty="0"/>
              <a:t>, distinguendola dal resto del grafo.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File output:</a:t>
            </a:r>
            <a:br>
              <a:rPr lang="it-IT" sz="1400" dirty="0"/>
            </a:br>
            <a:r>
              <a:rPr lang="it-IT" sz="1400" dirty="0">
                <a:latin typeface="Courier New" panose="02070309020205020404" pitchFamily="49" charset="0"/>
              </a:rPr>
              <a:t>mappa_VEIC_DAY_TOT_over5000.png</a:t>
            </a:r>
            <a:endParaRPr lang="it-IT" sz="1400" dirty="0"/>
          </a:p>
        </p:txBody>
      </p:sp>
      <p:pic>
        <p:nvPicPr>
          <p:cNvPr id="8" name="Immagine 7" descr="Immagine che contiene schermata&#10;&#10;Il contenuto generato dall'IA potrebbe non essere corretto.">
            <a:extLst>
              <a:ext uri="{FF2B5EF4-FFF2-40B4-BE49-F238E27FC236}">
                <a16:creationId xmlns:a16="http://schemas.microsoft.com/office/drawing/2014/main" id="{3501EE77-32C6-6059-ED43-09A1EF77E9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027" y="268633"/>
            <a:ext cx="5571744" cy="600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624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175AB-18AC-DEFB-C8F3-E7D7A3AA7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3E1629B5-32C9-DFA5-8FB8-F854B81CF075}"/>
              </a:ext>
            </a:extLst>
          </p:cNvPr>
          <p:cNvSpPr txBox="1"/>
          <p:nvPr/>
        </p:nvSpPr>
        <p:spPr>
          <a:xfrm>
            <a:off x="182880" y="173736"/>
            <a:ext cx="11027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atin typeface="Arial" panose="020B0604020202020204" pitchFamily="34" charset="0"/>
                <a:cs typeface="Arial" panose="020B0604020202020204" pitchFamily="34" charset="0"/>
              </a:rPr>
              <a:t>Strumenti di Analisi PGTU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7C0958E-1CBF-F75F-C996-005C0384B2FD}"/>
              </a:ext>
            </a:extLst>
          </p:cNvPr>
          <p:cNvSpPr txBox="1"/>
          <p:nvPr/>
        </p:nvSpPr>
        <p:spPr>
          <a:xfrm>
            <a:off x="403860" y="1105286"/>
            <a:ext cx="609447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400" b="1" dirty="0"/>
              <a:t>Distribuzione archi per classe (tutta la rete)</a:t>
            </a:r>
            <a:endParaRPr lang="it-IT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>
                <a:latin typeface="Courier New" panose="02070309020205020404" pitchFamily="49" charset="0"/>
              </a:rPr>
              <a:t>&lt;1.000</a:t>
            </a:r>
            <a:r>
              <a:rPr lang="it-IT" sz="1400" dirty="0"/>
              <a:t>: </a:t>
            </a:r>
            <a:r>
              <a:rPr lang="it-IT" sz="1400" b="1" dirty="0"/>
              <a:t>21.551 archi</a:t>
            </a:r>
            <a:endParaRPr lang="it-IT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>
                <a:latin typeface="Courier New" panose="02070309020205020404" pitchFamily="49" charset="0"/>
              </a:rPr>
              <a:t>1.000–5.000</a:t>
            </a:r>
            <a:r>
              <a:rPr lang="it-IT" sz="1400" dirty="0"/>
              <a:t>: </a:t>
            </a:r>
            <a:r>
              <a:rPr lang="it-IT" sz="1400" b="1" dirty="0"/>
              <a:t>27.824 archi</a:t>
            </a:r>
            <a:endParaRPr lang="it-IT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>
                <a:latin typeface="Courier New" panose="02070309020205020404" pitchFamily="49" charset="0"/>
              </a:rPr>
              <a:t>5.000–6.000</a:t>
            </a:r>
            <a:r>
              <a:rPr lang="it-IT" sz="1400" dirty="0"/>
              <a:t>: </a:t>
            </a:r>
            <a:r>
              <a:rPr lang="it-IT" sz="1400" b="1" dirty="0"/>
              <a:t>4.640 archi</a:t>
            </a:r>
            <a:endParaRPr lang="it-IT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>
                <a:latin typeface="Courier New" panose="02070309020205020404" pitchFamily="49" charset="0"/>
              </a:rPr>
              <a:t>6.000–7.000</a:t>
            </a:r>
            <a:r>
              <a:rPr lang="it-IT" sz="1400" dirty="0"/>
              <a:t>: </a:t>
            </a:r>
            <a:r>
              <a:rPr lang="it-IT" sz="1400" b="1" dirty="0"/>
              <a:t>4.030 archi</a:t>
            </a:r>
            <a:endParaRPr lang="it-IT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>
                <a:latin typeface="Courier New" panose="02070309020205020404" pitchFamily="49" charset="0"/>
              </a:rPr>
              <a:t>7.000–8.000</a:t>
            </a:r>
            <a:r>
              <a:rPr lang="it-IT" sz="1400" dirty="0"/>
              <a:t>: </a:t>
            </a:r>
            <a:r>
              <a:rPr lang="it-IT" sz="1400" b="1" dirty="0"/>
              <a:t>3.778 archi</a:t>
            </a:r>
            <a:endParaRPr lang="it-IT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>
                <a:latin typeface="Courier New" panose="02070309020205020404" pitchFamily="49" charset="0"/>
              </a:rPr>
              <a:t>8.000–9.000</a:t>
            </a:r>
            <a:r>
              <a:rPr lang="it-IT" sz="1400" dirty="0"/>
              <a:t>: </a:t>
            </a:r>
            <a:r>
              <a:rPr lang="it-IT" sz="1400" b="1" dirty="0"/>
              <a:t>3.102 archi</a:t>
            </a:r>
            <a:endParaRPr lang="it-IT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>
                <a:latin typeface="Courier New" panose="02070309020205020404" pitchFamily="49" charset="0"/>
              </a:rPr>
              <a:t>9.000–10.000</a:t>
            </a:r>
            <a:r>
              <a:rPr lang="it-IT" sz="1400" dirty="0"/>
              <a:t>: </a:t>
            </a:r>
            <a:r>
              <a:rPr lang="it-IT" sz="1400" b="1" dirty="0"/>
              <a:t>2.628 archi</a:t>
            </a:r>
            <a:endParaRPr lang="it-IT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>
                <a:latin typeface="Courier New" panose="02070309020205020404" pitchFamily="49" charset="0"/>
              </a:rPr>
              <a:t>10.000–15.000</a:t>
            </a:r>
            <a:r>
              <a:rPr lang="it-IT" sz="1400" dirty="0"/>
              <a:t>: </a:t>
            </a:r>
            <a:r>
              <a:rPr lang="it-IT" sz="1400" b="1" dirty="0"/>
              <a:t>9.688 archi</a:t>
            </a:r>
            <a:endParaRPr lang="it-IT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>
                <a:latin typeface="Courier New" panose="02070309020205020404" pitchFamily="49" charset="0"/>
              </a:rPr>
              <a:t>15.000–20.000</a:t>
            </a:r>
            <a:r>
              <a:rPr lang="it-IT" sz="1400" dirty="0"/>
              <a:t>: </a:t>
            </a:r>
            <a:r>
              <a:rPr lang="it-IT" sz="1400" b="1" dirty="0"/>
              <a:t>5.460 archi</a:t>
            </a:r>
            <a:endParaRPr lang="it-IT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>
                <a:latin typeface="Courier New" panose="02070309020205020404" pitchFamily="49" charset="0"/>
              </a:rPr>
              <a:t>&gt;20.000</a:t>
            </a:r>
            <a:r>
              <a:rPr lang="it-IT" sz="1400" dirty="0"/>
              <a:t>: </a:t>
            </a:r>
            <a:r>
              <a:rPr lang="it-IT" sz="1400" b="1" dirty="0"/>
              <a:t>11.447 archi</a:t>
            </a:r>
          </a:p>
          <a:p>
            <a:endParaRPr lang="it-IT" sz="1400" dirty="0"/>
          </a:p>
          <a:p>
            <a:pPr>
              <a:buNone/>
            </a:pPr>
            <a:r>
              <a:rPr lang="it-IT" sz="1400" dirty="0"/>
              <a:t>→ Le ultime quattro classi (oltre 10.000 veicoli/giorno) da sole rappresentano più di </a:t>
            </a:r>
            <a:r>
              <a:rPr lang="it-IT" sz="1400" b="1" dirty="0"/>
              <a:t>26.000 archi</a:t>
            </a:r>
            <a:r>
              <a:rPr lang="it-IT" sz="1400" dirty="0"/>
              <a:t>, confermando una rete molto estesa di assi ad elevata intensità.</a:t>
            </a:r>
          </a:p>
          <a:p>
            <a:pPr>
              <a:buNone/>
            </a:pPr>
            <a:endParaRPr lang="it-IT" sz="1400" dirty="0"/>
          </a:p>
          <a:p>
            <a:pPr>
              <a:buNone/>
            </a:pPr>
            <a:r>
              <a:rPr lang="it-IT" sz="1400" b="1" dirty="0"/>
              <a:t>Rappresentazione cartografica</a:t>
            </a:r>
            <a:endParaRPr lang="it-IT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Archi con VEIC_DAY_TOT &lt; 5.000 → </a:t>
            </a:r>
            <a:r>
              <a:rPr lang="it-IT" sz="1400" b="1" dirty="0"/>
              <a:t>grigio chiaro</a:t>
            </a:r>
            <a:r>
              <a:rPr lang="it-IT" sz="1400" dirty="0"/>
              <a:t> (contesto).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Classi ≥ 5.000 → colorate con palette graduata (dal giallo chiaro al rosso scuro) per rappresentare l’aumento di flusso.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Figura prodotta:</a:t>
            </a:r>
            <a:br>
              <a:rPr lang="it-IT" sz="1400" dirty="0"/>
            </a:br>
            <a:r>
              <a:rPr lang="it-IT" sz="1400" dirty="0">
                <a:latin typeface="Courier New" panose="02070309020205020404" pitchFamily="49" charset="0"/>
              </a:rPr>
              <a:t>mappa_classi_VEIC_DAY_TOT_focus5000.png</a:t>
            </a:r>
            <a:endParaRPr lang="it-IT" sz="14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3993774-D4BD-FAD0-09EB-AF4FF840C4B2}"/>
              </a:ext>
            </a:extLst>
          </p:cNvPr>
          <p:cNvSpPr txBox="1"/>
          <p:nvPr/>
        </p:nvSpPr>
        <p:spPr>
          <a:xfrm>
            <a:off x="308229" y="58206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i="1" dirty="0"/>
              <a:t>Mappa per classi di flusso (focus ≥ 5.000)</a:t>
            </a:r>
          </a:p>
        </p:txBody>
      </p:sp>
      <p:pic>
        <p:nvPicPr>
          <p:cNvPr id="9" name="Immagine 8" descr="Immagine che contiene testo, schermata, fuochi d'artificio&#10;&#10;Il contenuto generato dall'IA potrebbe non essere corretto.">
            <a:extLst>
              <a:ext uri="{FF2B5EF4-FFF2-40B4-BE49-F238E27FC236}">
                <a16:creationId xmlns:a16="http://schemas.microsoft.com/office/drawing/2014/main" id="{45827746-CF96-AD17-2C13-2FB1F7F6B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2704" y="108590"/>
            <a:ext cx="5827515" cy="628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767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D30D8-A3EC-13F4-52CE-EA010BB31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4E0751FE-A385-7B82-8260-1B5086E49BB8}"/>
              </a:ext>
            </a:extLst>
          </p:cNvPr>
          <p:cNvSpPr txBox="1"/>
          <p:nvPr/>
        </p:nvSpPr>
        <p:spPr>
          <a:xfrm>
            <a:off x="182880" y="173736"/>
            <a:ext cx="11027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atin typeface="Arial" panose="020B0604020202020204" pitchFamily="34" charset="0"/>
                <a:cs typeface="Arial" panose="020B0604020202020204" pitchFamily="34" charset="0"/>
              </a:rPr>
              <a:t>Strumenti di Analisi PGTU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B24B0D2-A021-F835-642B-B0DCEE11089F}"/>
              </a:ext>
            </a:extLst>
          </p:cNvPr>
          <p:cNvSpPr txBox="1"/>
          <p:nvPr/>
        </p:nvSpPr>
        <p:spPr>
          <a:xfrm>
            <a:off x="308228" y="582066"/>
            <a:ext cx="7639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i="1" dirty="0"/>
              <a:t>Processo di Match Lineare tra Archi TomTom e Segmenti PGTU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7829B4F-06AB-FC50-11F8-3274A90D7162}"/>
              </a:ext>
            </a:extLst>
          </p:cNvPr>
          <p:cNvSpPr txBox="1"/>
          <p:nvPr/>
        </p:nvSpPr>
        <p:spPr>
          <a:xfrm>
            <a:off x="431615" y="1105286"/>
            <a:ext cx="6397201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200" b="1" dirty="0"/>
              <a:t>1. Preparazione dei dataset</a:t>
            </a:r>
            <a:br>
              <a:rPr lang="it-IT" sz="1200" dirty="0"/>
            </a:br>
            <a:r>
              <a:rPr lang="it-IT" sz="1200" dirty="0"/>
              <a:t>Vengono calcolati i flussi giornalieri e le lunghezze degli archi, consentendo la selezione preliminare degli elementi realmente rilevanti per il matching.</a:t>
            </a:r>
          </a:p>
          <a:p>
            <a:pPr lvl="1"/>
            <a:r>
              <a:rPr lang="it-IT" sz="1200" b="1" dirty="0"/>
              <a:t>Criteri di preselezione degli archi TomTom:</a:t>
            </a:r>
            <a:endParaRPr lang="it-IT" sz="12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dirty="0"/>
              <a:t>Flusso giornaliero &gt; </a:t>
            </a:r>
            <a:r>
              <a:rPr lang="it-IT" sz="1200" b="1" dirty="0"/>
              <a:t>1000 veicoli/giorno</a:t>
            </a:r>
            <a:endParaRPr lang="it-IT" sz="12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dirty="0"/>
              <a:t>Lunghezza ≥ </a:t>
            </a:r>
            <a:r>
              <a:rPr lang="it-IT" sz="1200" b="1" dirty="0"/>
              <a:t>5 metri</a:t>
            </a:r>
            <a:endParaRPr lang="it-IT" sz="1200" dirty="0"/>
          </a:p>
          <a:p>
            <a:pPr>
              <a:buNone/>
            </a:pPr>
            <a:r>
              <a:rPr lang="it-IT" sz="1200" dirty="0"/>
              <a:t>Gli archi sotto queste soglie </a:t>
            </a:r>
            <a:r>
              <a:rPr lang="it-IT" sz="1200" b="1" dirty="0"/>
              <a:t>non vengono utilizzati per il matching</a:t>
            </a:r>
            <a:r>
              <a:rPr lang="it-IT" sz="1200" dirty="0"/>
              <a:t>, ma sono comunque inclusi nel dataset finale con campi PGTU vuoti, così da preservare l’integrità della rete TomTom.</a:t>
            </a:r>
          </a:p>
          <a:p>
            <a:pPr>
              <a:buNone/>
            </a:pPr>
            <a:endParaRPr lang="it-IT" sz="1200" dirty="0"/>
          </a:p>
          <a:p>
            <a:pPr>
              <a:buNone/>
            </a:pPr>
            <a:r>
              <a:rPr lang="it-IT" sz="1200" b="1" dirty="0"/>
              <a:t>2. Preparazione della rete PGTU</a:t>
            </a:r>
          </a:p>
          <a:p>
            <a:pPr>
              <a:buNone/>
            </a:pPr>
            <a:r>
              <a:rPr lang="it-IT" sz="1200" dirty="0"/>
              <a:t>Ogni segmento PGTU viene duplicato in una versione “bufferizzata” tramite un buffer di </a:t>
            </a:r>
            <a:r>
              <a:rPr lang="it-IT" sz="1200" b="1" dirty="0"/>
              <a:t>30 metri</a:t>
            </a:r>
            <a:r>
              <a:rPr lang="it-IT" sz="1200" dirty="0"/>
              <a:t>, utile per individuare candidati spaziali compatibili con gli archi </a:t>
            </a:r>
            <a:r>
              <a:rPr lang="it-IT" sz="1200" dirty="0" err="1"/>
              <a:t>TomTom.Parallelamente</a:t>
            </a:r>
            <a:r>
              <a:rPr lang="it-IT" sz="1200" dirty="0"/>
              <a:t> si conserva la geometria lineare originaria allo scopo di calcolare parametri metrici e angolari.</a:t>
            </a:r>
          </a:p>
          <a:p>
            <a:pPr>
              <a:buNone/>
            </a:pPr>
            <a:endParaRPr lang="it-IT" sz="1200" dirty="0"/>
          </a:p>
          <a:p>
            <a:pPr>
              <a:buNone/>
            </a:pPr>
            <a:r>
              <a:rPr lang="it-IT" sz="1200" b="1" dirty="0"/>
              <a:t>3. Individuazione dei segmenti candidati (</a:t>
            </a:r>
            <a:r>
              <a:rPr lang="it-IT" sz="1200" b="1" dirty="0" err="1"/>
              <a:t>Spatial</a:t>
            </a:r>
            <a:r>
              <a:rPr lang="it-IT" sz="1200" b="1" dirty="0"/>
              <a:t> Join)</a:t>
            </a:r>
          </a:p>
          <a:p>
            <a:pPr>
              <a:buNone/>
            </a:pPr>
            <a:r>
              <a:rPr lang="it-IT" sz="1200" dirty="0"/>
              <a:t>Gli archi TomTom preselezionati vengono intersecati con il buffer PGTU: in questo modo vengono identificati tutti i segmenti PGTU plausibilmente associabili dal punto di vista geometrico. Questa operazione genera l’insieme delle </a:t>
            </a:r>
            <a:r>
              <a:rPr lang="it-IT" sz="1200" b="1" dirty="0"/>
              <a:t>coppie TT–PGTU candidate</a:t>
            </a:r>
            <a:r>
              <a:rPr lang="it-IT" sz="1200" dirty="0"/>
              <a:t>.</a:t>
            </a:r>
          </a:p>
          <a:p>
            <a:pPr>
              <a:buNone/>
            </a:pPr>
            <a:endParaRPr lang="it-IT" sz="1200" dirty="0"/>
          </a:p>
          <a:p>
            <a:pPr>
              <a:buNone/>
            </a:pPr>
            <a:r>
              <a:rPr lang="it-IT" sz="1200" b="1" dirty="0"/>
              <a:t>4. Calcolo dell’</a:t>
            </a:r>
            <a:r>
              <a:rPr lang="it-IT" sz="1200" b="1" dirty="0" err="1"/>
              <a:t>overlap</a:t>
            </a:r>
            <a:r>
              <a:rPr lang="it-IT" sz="1200" b="1" dirty="0"/>
              <a:t> metrico</a:t>
            </a:r>
          </a:p>
          <a:p>
            <a:pPr>
              <a:buNone/>
            </a:pPr>
            <a:r>
              <a:rPr lang="it-IT" sz="1200" dirty="0"/>
              <a:t>Per ogni coppia candidata vengono calcolate: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dirty="0"/>
              <a:t>la </a:t>
            </a:r>
            <a:r>
              <a:rPr lang="it-IT" sz="1200" b="1" dirty="0"/>
              <a:t>lunghezza di sovrapposizione effettiva</a:t>
            </a:r>
            <a:r>
              <a:rPr lang="it-IT" sz="1200" dirty="0"/>
              <a:t> dell’arco TomTom all’interno del buffer PGTU;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dirty="0"/>
              <a:t>la </a:t>
            </a:r>
            <a:r>
              <a:rPr lang="it-IT" sz="1200" b="1" dirty="0"/>
              <a:t>percentuale di copertura</a:t>
            </a:r>
            <a:r>
              <a:rPr lang="it-IT" sz="1200" dirty="0"/>
              <a:t> dell’arco TomTom rispetto alla propria lunghezza;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dirty="0"/>
              <a:t>la </a:t>
            </a:r>
            <a:r>
              <a:rPr lang="it-IT" sz="1200" b="1" dirty="0"/>
              <a:t>percentuale relativa alla lunghezza del segmento PGTU</a:t>
            </a:r>
            <a:r>
              <a:rPr lang="it-IT" sz="1200" dirty="0"/>
              <a:t>.</a:t>
            </a:r>
          </a:p>
          <a:p>
            <a:pPr>
              <a:buNone/>
            </a:pPr>
            <a:r>
              <a:rPr lang="it-IT" sz="1200" dirty="0"/>
              <a:t>Vengono mantenuti solo i candidati che rispettano vincoli stringenti: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b="1" dirty="0" err="1"/>
              <a:t>Overlap</a:t>
            </a:r>
            <a:r>
              <a:rPr lang="it-IT" sz="1200" b="1" dirty="0"/>
              <a:t> ≥ 3 m</a:t>
            </a:r>
            <a:endParaRPr lang="it-IT" sz="12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b="1" dirty="0"/>
              <a:t>Copertura dell’arco TomTom ≥ 50%</a:t>
            </a:r>
            <a:endParaRPr lang="it-IT" sz="1200" dirty="0"/>
          </a:p>
          <a:p>
            <a:pPr>
              <a:buNone/>
            </a:pPr>
            <a:endParaRPr lang="it-IT" sz="12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D30E6E9-6FA7-E891-06E3-1A1573DB467C}"/>
              </a:ext>
            </a:extLst>
          </p:cNvPr>
          <p:cNvSpPr txBox="1"/>
          <p:nvPr/>
        </p:nvSpPr>
        <p:spPr>
          <a:xfrm>
            <a:off x="6899343" y="951398"/>
            <a:ext cx="509486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it-IT" sz="1200" dirty="0"/>
          </a:p>
          <a:p>
            <a:pPr>
              <a:buNone/>
            </a:pPr>
            <a:r>
              <a:rPr lang="it-IT" sz="1200" b="1" dirty="0"/>
              <a:t>5. Vincolo angolare locale</a:t>
            </a:r>
          </a:p>
          <a:p>
            <a:pPr>
              <a:buNone/>
            </a:pPr>
            <a:r>
              <a:rPr lang="it-IT" sz="1200" dirty="0"/>
              <a:t>Per ogni match geometrico plausibile viene calcolato l’</a:t>
            </a:r>
            <a:r>
              <a:rPr lang="it-IT" sz="1200" b="1" dirty="0"/>
              <a:t>angolo locale tra le direzioni TomTom e PGTU</a:t>
            </a:r>
            <a:r>
              <a:rPr lang="it-IT" sz="1200" dirty="0"/>
              <a:t>, utilizzando: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dirty="0"/>
              <a:t>il punto di minima distanza tra i due segmenti;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dirty="0"/>
              <a:t>un orientamento locale basato sulla derivata direzionale della geometria lineare.</a:t>
            </a:r>
          </a:p>
          <a:p>
            <a:pPr>
              <a:buNone/>
            </a:pPr>
            <a:r>
              <a:rPr lang="it-IT" sz="1200" dirty="0"/>
              <a:t>Il match è considerato valido solo se: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b="1" dirty="0" err="1"/>
              <a:t>Δangolo</a:t>
            </a:r>
            <a:r>
              <a:rPr lang="it-IT" sz="1200" b="1" dirty="0"/>
              <a:t> ≤ 45°</a:t>
            </a:r>
            <a:endParaRPr lang="it-IT" sz="1200" dirty="0"/>
          </a:p>
          <a:p>
            <a:pPr>
              <a:buNone/>
            </a:pPr>
            <a:r>
              <a:rPr lang="it-IT" sz="1200" dirty="0"/>
              <a:t>Questo ulteriore filtro garantisce che vengano associati solo archi effettivamente collineari o coerenti nella direzione di percorrenza.</a:t>
            </a:r>
          </a:p>
          <a:p>
            <a:pPr>
              <a:buNone/>
            </a:pPr>
            <a:endParaRPr lang="it-IT" sz="1200" dirty="0"/>
          </a:p>
          <a:p>
            <a:pPr>
              <a:buNone/>
            </a:pPr>
            <a:r>
              <a:rPr lang="it-IT" sz="1200" b="1" dirty="0"/>
              <a:t>6. Matching semantico basato sui nomi</a:t>
            </a:r>
          </a:p>
          <a:p>
            <a:pPr>
              <a:buNone/>
            </a:pPr>
            <a:r>
              <a:rPr lang="it-IT" sz="1200" dirty="0"/>
              <a:t>Si verifica la compatibilità toponomastica tramite un confronto delle parole significative tra: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dirty="0"/>
              <a:t>il nome strada TomTom (</a:t>
            </a:r>
            <a:r>
              <a:rPr lang="it-IT" sz="1200" dirty="0" err="1">
                <a:latin typeface="Courier New" panose="02070309020205020404" pitchFamily="49" charset="0"/>
              </a:rPr>
              <a:t>StreetName</a:t>
            </a:r>
            <a:r>
              <a:rPr lang="it-IT" sz="1200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dirty="0"/>
              <a:t>la toponomastica PGTU.</a:t>
            </a:r>
          </a:p>
          <a:p>
            <a:pPr lvl="1"/>
            <a:r>
              <a:rPr lang="it-IT" sz="1200" dirty="0"/>
              <a:t>Se il miglior match geometrico non ha compatibilità semantica ma esiste un altro candidato con un </a:t>
            </a:r>
            <a:r>
              <a:rPr lang="it-IT" sz="1200" dirty="0" err="1"/>
              <a:t>overlap</a:t>
            </a:r>
            <a:r>
              <a:rPr lang="it-IT" sz="1200" dirty="0"/>
              <a:t> di nome significativo, il sistema </a:t>
            </a:r>
            <a:r>
              <a:rPr lang="it-IT" sz="1200" b="1" dirty="0"/>
              <a:t>rimpiazza automaticamente</a:t>
            </a:r>
            <a:r>
              <a:rPr lang="it-IT" sz="1200" dirty="0"/>
              <a:t> il primo con il secondo.</a:t>
            </a:r>
          </a:p>
          <a:p>
            <a:pPr>
              <a:buNone/>
            </a:pPr>
            <a:endParaRPr lang="it-IT" sz="1200" b="1" dirty="0"/>
          </a:p>
          <a:p>
            <a:pPr>
              <a:buNone/>
            </a:pPr>
            <a:r>
              <a:rPr lang="it-IT" sz="1200" b="1" dirty="0"/>
              <a:t>7. Selezione del best match</a:t>
            </a:r>
          </a:p>
          <a:p>
            <a:pPr>
              <a:buNone/>
            </a:pPr>
            <a:r>
              <a:rPr lang="it-IT" sz="1200" dirty="0"/>
              <a:t>Per ogni arco TomTom viene selezionato:</a:t>
            </a:r>
          </a:p>
          <a:p>
            <a:pPr lvl="1">
              <a:buFont typeface="+mj-lt"/>
              <a:buAutoNum type="arabicPeriod"/>
            </a:pPr>
            <a:r>
              <a:rPr lang="it-IT" sz="1200" dirty="0"/>
              <a:t>Il </a:t>
            </a:r>
            <a:r>
              <a:rPr lang="it-IT" sz="1200" b="1" dirty="0"/>
              <a:t>miglior candidato geometrico</a:t>
            </a:r>
            <a:r>
              <a:rPr lang="it-IT" sz="1200" dirty="0"/>
              <a:t> (massima percentuale di </a:t>
            </a:r>
            <a:r>
              <a:rPr lang="it-IT" sz="1200" dirty="0" err="1"/>
              <a:t>overlap</a:t>
            </a:r>
            <a:r>
              <a:rPr lang="it-IT" sz="1200" dirty="0"/>
              <a:t>).</a:t>
            </a:r>
          </a:p>
          <a:p>
            <a:pPr lvl="1">
              <a:buFont typeface="+mj-lt"/>
              <a:buAutoNum type="arabicPeriod"/>
            </a:pPr>
            <a:r>
              <a:rPr lang="it-IT" sz="1200" dirty="0"/>
              <a:t>Se necessario, il </a:t>
            </a:r>
            <a:r>
              <a:rPr lang="it-IT" sz="1200" b="1" dirty="0"/>
              <a:t>miglior candidato semantico</a:t>
            </a:r>
            <a:r>
              <a:rPr lang="it-IT" sz="1200" dirty="0"/>
              <a:t> compatibile.</a:t>
            </a:r>
          </a:p>
        </p:txBody>
      </p:sp>
    </p:spTree>
    <p:extLst>
      <p:ext uri="{BB962C8B-B14F-4D97-AF65-F5344CB8AC3E}">
        <p14:creationId xmlns:p14="http://schemas.microsoft.com/office/powerpoint/2010/main" val="1578955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F8B78-9222-0A9C-428D-BDAFB31D4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DAC1EF48-1F28-B68A-C797-AC19124DD4C4}"/>
              </a:ext>
            </a:extLst>
          </p:cNvPr>
          <p:cNvSpPr txBox="1"/>
          <p:nvPr/>
        </p:nvSpPr>
        <p:spPr>
          <a:xfrm>
            <a:off x="182880" y="173736"/>
            <a:ext cx="11027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atin typeface="Arial" panose="020B0604020202020204" pitchFamily="34" charset="0"/>
                <a:cs typeface="Arial" panose="020B0604020202020204" pitchFamily="34" charset="0"/>
              </a:rPr>
              <a:t>Strumenti di Analisi PGTU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1304E33-CD8F-9194-4E60-291DC9782D96}"/>
              </a:ext>
            </a:extLst>
          </p:cNvPr>
          <p:cNvSpPr txBox="1"/>
          <p:nvPr/>
        </p:nvSpPr>
        <p:spPr>
          <a:xfrm>
            <a:off x="308228" y="582066"/>
            <a:ext cx="7639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i="1" dirty="0"/>
              <a:t>Risultati del processo di matching TomTom → PGTU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3F50E56-B44F-FAD0-9156-0BA2818EEAC2}"/>
              </a:ext>
            </a:extLst>
          </p:cNvPr>
          <p:cNvSpPr txBox="1"/>
          <p:nvPr/>
        </p:nvSpPr>
        <p:spPr>
          <a:xfrm>
            <a:off x="308228" y="1105286"/>
            <a:ext cx="609437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200" dirty="0"/>
              <a:t>La procedura ha inizialmente considerato </a:t>
            </a:r>
            <a:r>
              <a:rPr lang="it-IT" sz="1200" b="1" dirty="0"/>
              <a:t>94.148 archi TomTom</a:t>
            </a:r>
            <a:r>
              <a:rPr lang="it-IT" sz="1200" dirty="0"/>
              <a:t>, dei quali: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200" b="1" dirty="0"/>
              <a:t>72.597</a:t>
            </a:r>
            <a:r>
              <a:rPr lang="it-IT" sz="1200" dirty="0"/>
              <a:t> con flusso giornaliero &gt; 1.000 veicoli/giorno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200" b="1" dirty="0"/>
              <a:t>71.711</a:t>
            </a:r>
            <a:r>
              <a:rPr lang="it-IT" sz="1200" dirty="0"/>
              <a:t> sopra soglia di flusso e lunghi almeno 5 m</a:t>
            </a:r>
            <a:br>
              <a:rPr lang="it-IT" sz="1200" dirty="0"/>
            </a:br>
            <a:r>
              <a:rPr lang="it-IT" sz="1200" dirty="0"/>
              <a:t>(esclusi per lunghezza &lt; 5 m: </a:t>
            </a:r>
            <a:r>
              <a:rPr lang="it-IT" sz="1200" b="1" dirty="0"/>
              <a:t>886</a:t>
            </a:r>
            <a:r>
              <a:rPr lang="it-IT" sz="1200" dirty="0"/>
              <a:t> archi)</a:t>
            </a:r>
            <a:br>
              <a:rPr lang="it-IT" sz="1200" dirty="0"/>
            </a:br>
            <a:endParaRPr lang="it-IT" sz="1200" dirty="0"/>
          </a:p>
          <a:p>
            <a:pPr>
              <a:buNone/>
            </a:pPr>
            <a:r>
              <a:rPr lang="it-IT" sz="1200" b="1" dirty="0"/>
              <a:t>Risultati intermedi</a:t>
            </a:r>
          </a:p>
          <a:p>
            <a:pPr>
              <a:buNone/>
            </a:pPr>
            <a:r>
              <a:rPr lang="it-IT" sz="1200" dirty="0"/>
              <a:t>La </a:t>
            </a:r>
            <a:r>
              <a:rPr lang="it-IT" sz="1200" dirty="0" err="1"/>
              <a:t>spatial</a:t>
            </a:r>
            <a:r>
              <a:rPr lang="it-IT" sz="1200" dirty="0"/>
              <a:t> join tra archi TT e buffer PGTU (30 m) ha prodotto </a:t>
            </a:r>
            <a:r>
              <a:rPr lang="it-IT" sz="1200" b="1" dirty="0"/>
              <a:t>96.222 coppie candidate</a:t>
            </a:r>
            <a:r>
              <a:rPr lang="it-IT" sz="1200" dirty="0"/>
              <a:t>, sulle quali sono stati applicati progressivamente i filtri:</a:t>
            </a:r>
          </a:p>
          <a:p>
            <a:pPr>
              <a:buNone/>
            </a:pPr>
            <a:endParaRPr lang="it-IT" sz="1200" dirty="0"/>
          </a:p>
          <a:p>
            <a:r>
              <a:rPr lang="it-IT" sz="1200" b="1" dirty="0"/>
              <a:t>Filtro 1 — </a:t>
            </a:r>
            <a:r>
              <a:rPr lang="it-IT" sz="1200" b="1" dirty="0" err="1"/>
              <a:t>Overlap</a:t>
            </a:r>
            <a:r>
              <a:rPr lang="it-IT" sz="1200" b="1" dirty="0"/>
              <a:t> geometrico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dirty="0"/>
              <a:t>Coppie con </a:t>
            </a:r>
            <a:r>
              <a:rPr lang="it-IT" sz="1200" b="1" dirty="0" err="1"/>
              <a:t>overlap</a:t>
            </a:r>
            <a:r>
              <a:rPr lang="it-IT" sz="1200" b="1" dirty="0"/>
              <a:t> ≥ 3 m</a:t>
            </a:r>
            <a:r>
              <a:rPr lang="it-IT" sz="1200" dirty="0"/>
              <a:t> e </a:t>
            </a:r>
            <a:r>
              <a:rPr lang="it-IT" sz="1200" b="1" dirty="0" err="1"/>
              <a:t>perc_TT</a:t>
            </a:r>
            <a:r>
              <a:rPr lang="it-IT" sz="1200" b="1" dirty="0"/>
              <a:t> ≥ 50%</a:t>
            </a:r>
            <a:r>
              <a:rPr lang="it-IT" sz="1200" dirty="0"/>
              <a:t>:</a:t>
            </a:r>
            <a:br>
              <a:rPr lang="it-IT" sz="1200" dirty="0"/>
            </a:br>
            <a:r>
              <a:rPr lang="it-IT" sz="1200" b="1" dirty="0"/>
              <a:t>65.283</a:t>
            </a:r>
            <a:r>
              <a:rPr lang="it-IT" sz="1200" dirty="0"/>
              <a:t> candidati validi</a:t>
            </a:r>
          </a:p>
          <a:p>
            <a:pPr lvl="1"/>
            <a:r>
              <a:rPr lang="it-IT" sz="1200" dirty="0"/>
              <a:t>Distribuzione del numero di segmenti PGTU candidati per singolo arco TT: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dirty="0"/>
              <a:t>1 candidato: </a:t>
            </a:r>
            <a:r>
              <a:rPr lang="it-IT" sz="1200" b="1" dirty="0"/>
              <a:t>38.422</a:t>
            </a:r>
            <a:r>
              <a:rPr lang="it-IT" sz="1200" dirty="0"/>
              <a:t> casi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dirty="0"/>
              <a:t>2 candidati: </a:t>
            </a:r>
            <a:r>
              <a:rPr lang="it-IT" sz="1200" b="1" dirty="0"/>
              <a:t>7.455</a:t>
            </a:r>
            <a:r>
              <a:rPr lang="it-IT" sz="1200" dirty="0"/>
              <a:t> casi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dirty="0"/>
              <a:t>3 candidati: </a:t>
            </a:r>
            <a:r>
              <a:rPr lang="it-IT" sz="1200" b="1" dirty="0"/>
              <a:t>2.801</a:t>
            </a:r>
            <a:r>
              <a:rPr lang="it-IT" sz="1200" dirty="0"/>
              <a:t> casi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dirty="0"/>
              <a:t>valori superiori molto rari (max 7)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it-IT" sz="1200" dirty="0"/>
          </a:p>
          <a:p>
            <a:pPr>
              <a:buNone/>
            </a:pPr>
            <a:r>
              <a:rPr lang="it-IT" sz="1200" b="1" dirty="0"/>
              <a:t>Filtro 2 — Angolo locale tra segmenti</a:t>
            </a:r>
          </a:p>
          <a:p>
            <a:pPr lvl="1"/>
            <a:r>
              <a:rPr lang="it-IT" sz="1200" dirty="0"/>
              <a:t>Su tutti i </a:t>
            </a:r>
            <a:r>
              <a:rPr lang="it-IT" sz="1200" b="1" dirty="0"/>
              <a:t>65.283</a:t>
            </a:r>
            <a:r>
              <a:rPr lang="it-IT" sz="1200" dirty="0"/>
              <a:t> candidati è stato calcolato l’angolo locale, con avanzamento monitorato ogni 1.000 archi.</a:t>
            </a:r>
          </a:p>
          <a:p>
            <a:pPr lvl="1"/>
            <a:r>
              <a:rPr lang="it-IT" sz="1200" dirty="0"/>
              <a:t>Coppie che rispettano il vincolo </a:t>
            </a:r>
            <a:r>
              <a:rPr lang="it-IT" sz="1200" b="1" dirty="0" err="1"/>
              <a:t>Δangolo</a:t>
            </a:r>
            <a:r>
              <a:rPr lang="it-IT" sz="1200" b="1" dirty="0"/>
              <a:t> ≤ 45°</a:t>
            </a:r>
            <a:r>
              <a:rPr lang="it-IT" sz="1200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b="1" dirty="0"/>
              <a:t>52.653</a:t>
            </a:r>
            <a:r>
              <a:rPr lang="it-IT" sz="1200" dirty="0"/>
              <a:t> candidati validi</a:t>
            </a:r>
          </a:p>
          <a:p>
            <a:pPr>
              <a:buNone/>
            </a:pPr>
            <a:br>
              <a:rPr lang="it-IT" sz="1200" dirty="0"/>
            </a:br>
            <a:endParaRPr lang="it-IT" sz="1200" dirty="0"/>
          </a:p>
          <a:p>
            <a:pPr>
              <a:buNone/>
            </a:pPr>
            <a:r>
              <a:rPr lang="it-IT" sz="1200" b="1" dirty="0"/>
              <a:t>Matching finale</a:t>
            </a:r>
          </a:p>
          <a:p>
            <a:pPr>
              <a:buNone/>
            </a:pPr>
            <a:r>
              <a:rPr lang="it-IT" sz="1200" dirty="0"/>
              <a:t>È stato individuato il match ottimale per ogni arco TT sopra soglia, scegliendo:</a:t>
            </a:r>
          </a:p>
          <a:p>
            <a:pPr lvl="1">
              <a:buFont typeface="+mj-lt"/>
              <a:buAutoNum type="arabicPeriod"/>
            </a:pPr>
            <a:r>
              <a:rPr lang="it-IT" sz="1200" dirty="0"/>
              <a:t>il miglior candidato geometrico;</a:t>
            </a:r>
          </a:p>
          <a:p>
            <a:pPr lvl="1">
              <a:buFont typeface="+mj-lt"/>
              <a:buAutoNum type="arabicPeriod"/>
            </a:pPr>
            <a:r>
              <a:rPr lang="it-IT" sz="1200" dirty="0"/>
              <a:t>in caso di incoerenza nominativa, il miglior candidato con parole significative in comune.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3BA02AB-ADD7-BB79-4D5C-D2953E7D8960}"/>
              </a:ext>
            </a:extLst>
          </p:cNvPr>
          <p:cNvSpPr txBox="1"/>
          <p:nvPr/>
        </p:nvSpPr>
        <p:spPr>
          <a:xfrm>
            <a:off x="6656150" y="220781"/>
            <a:ext cx="609437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400" b="1" dirty="0"/>
              <a:t>Esiti finali: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200" b="1" dirty="0"/>
              <a:t>Archi TT sopra soglia elaborati</a:t>
            </a:r>
            <a:r>
              <a:rPr lang="it-IT" sz="1200" dirty="0"/>
              <a:t>: 71.711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200" b="1" dirty="0"/>
              <a:t>Match accettati</a:t>
            </a:r>
            <a:r>
              <a:rPr lang="it-IT" sz="1200" dirty="0"/>
              <a:t>: </a:t>
            </a:r>
            <a:r>
              <a:rPr lang="it-IT" sz="1200" b="1" dirty="0"/>
              <a:t>42.786</a:t>
            </a:r>
            <a:r>
              <a:rPr lang="it-IT" sz="1200" dirty="0"/>
              <a:t> → </a:t>
            </a:r>
            <a:r>
              <a:rPr lang="it-IT" sz="1200" b="1" dirty="0"/>
              <a:t>59,7%</a:t>
            </a:r>
            <a:endParaRPr lang="it-IT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200" b="1" dirty="0"/>
              <a:t>Non </a:t>
            </a:r>
            <a:r>
              <a:rPr lang="it-IT" sz="1200" b="1" dirty="0" err="1"/>
              <a:t>matchati</a:t>
            </a:r>
            <a:r>
              <a:rPr lang="it-IT" sz="1200" dirty="0"/>
              <a:t>: </a:t>
            </a:r>
            <a:r>
              <a:rPr lang="it-IT" sz="1200" b="1" dirty="0"/>
              <a:t>28.925</a:t>
            </a:r>
            <a:r>
              <a:rPr lang="it-IT" sz="1200" dirty="0"/>
              <a:t> → </a:t>
            </a:r>
            <a:r>
              <a:rPr lang="it-IT" sz="1200" b="1" dirty="0"/>
              <a:t>40,3%</a:t>
            </a:r>
            <a:endParaRPr lang="it-IT" sz="1200" dirty="0"/>
          </a:p>
          <a:p>
            <a:pPr>
              <a:buNone/>
            </a:pPr>
            <a:r>
              <a:rPr lang="it-IT" sz="1200" dirty="0"/>
              <a:t>Il matching copre </a:t>
            </a:r>
            <a:r>
              <a:rPr lang="it-IT" sz="1200" b="1" dirty="0"/>
              <a:t>1.226 segmenti PGTU</a:t>
            </a:r>
            <a:r>
              <a:rPr lang="it-IT" sz="1200" dirty="0"/>
              <a:t> (su 1.301 totali).</a:t>
            </a:r>
            <a:br>
              <a:rPr lang="it-IT" sz="1200" dirty="0"/>
            </a:br>
            <a:endParaRPr lang="it-IT" sz="1200" dirty="0"/>
          </a:p>
          <a:p>
            <a:pPr>
              <a:buNone/>
            </a:pPr>
            <a:endParaRPr lang="it-IT" sz="1200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C9536A71-6927-F848-2EEB-CA7368786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6150" y="1505191"/>
            <a:ext cx="5020126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Copertura lato PGTU (a livello di Id strada)</a:t>
            </a:r>
            <a:endParaRPr kumimoji="0" lang="it-IT" altLang="it-IT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Segmenti PGTU con </a:t>
            </a:r>
            <a:r>
              <a:rPr kumimoji="0" lang="it-IT" altLang="it-IT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almeno un arco TomTom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&gt; 1000 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veic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/g e ≥ 5 m associato: </a:t>
            </a:r>
            <a:r>
              <a:rPr kumimoji="0" lang="it-IT" altLang="it-IT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1.243</a:t>
            </a:r>
            <a:endParaRPr kumimoji="0" lang="it-IT" altLang="it-IT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Segmenti PGTU </a:t>
            </a:r>
            <a:r>
              <a:rPr kumimoji="0" lang="it-IT" altLang="it-IT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 coperti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 archi TomTom sopra soglia: </a:t>
            </a:r>
            <a:r>
              <a:rPr kumimoji="0" lang="it-IT" altLang="it-IT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58</a:t>
            </a:r>
            <a:endParaRPr kumimoji="0" lang="it-IT" altLang="it-IT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rete PGTU risulta quindi coperta da TomTom (sopra soglia) per circa </a:t>
            </a:r>
            <a:r>
              <a:rPr kumimoji="0" lang="it-IT" altLang="it-IT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95–96%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dei segmenti, con una quota residuale di archi PGTU privi di corrispondente nella rete TomTom ad alto flusso.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Flusso medio TomTom lungo la rete PGTU</a:t>
            </a:r>
            <a:endParaRPr kumimoji="0" lang="it-IT" altLang="it-IT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 i segmenti PGTU associati ad almeno un arco TomTom è stato calcolato il </a:t>
            </a:r>
            <a:r>
              <a:rPr kumimoji="0" lang="it-IT" altLang="it-IT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flusso medio VEIC_DAY_TOT per Id strada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ottenendo una mappa in cui la grande viabilità e gli assi principali risultano chiaramente distinti dai rami di distribuzione locale.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Focalizzazione sulle criticità: archi TomTom “</a:t>
            </a:r>
            <a:r>
              <a:rPr kumimoji="0" lang="it-IT" altLang="it-IT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unmatched</a:t>
            </a:r>
            <a:r>
              <a:rPr kumimoji="0" lang="it-IT" altLang="it-IT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 ad alto flusso</a:t>
            </a:r>
            <a:endParaRPr kumimoji="0" lang="it-IT" altLang="it-IT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 mappe aggiuntive su base 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OpenStreetMap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evidenziano gli archi </a:t>
            </a:r>
            <a:r>
              <a:rPr kumimoji="0" lang="it-IT" altLang="it-IT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 associati a PGTU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 </a:t>
            </a:r>
            <a:r>
              <a:rPr kumimoji="0" lang="it-IT" altLang="it-IT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VEIC_DAY_TOT ≥ 10.000 </a:t>
            </a:r>
            <a:r>
              <a:rPr kumimoji="0" lang="it-IT" altLang="it-IT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veic</a:t>
            </a:r>
            <a:r>
              <a:rPr kumimoji="0" lang="it-IT" altLang="it-IT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/g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(4.925 archi selezionati), e soglie più basse (≥ 5.000, ≥ 3.000 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veic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Queste rappresentazioni permettono di individuare in modo mirato gli assi a </a:t>
            </a:r>
            <a:r>
              <a:rPr kumimoji="0" lang="it-IT" altLang="it-IT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forte domanda di traffico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non intercettati dal grafo PGTU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115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5DA7A-1BAC-7783-57E9-CE6012096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41090715-4DBE-C567-0B54-E21021AB1BE8}"/>
              </a:ext>
            </a:extLst>
          </p:cNvPr>
          <p:cNvSpPr txBox="1"/>
          <p:nvPr/>
        </p:nvSpPr>
        <p:spPr>
          <a:xfrm>
            <a:off x="182880" y="173736"/>
            <a:ext cx="11027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atin typeface="Arial" panose="020B0604020202020204" pitchFamily="34" charset="0"/>
                <a:cs typeface="Arial" panose="020B0604020202020204" pitchFamily="34" charset="0"/>
              </a:rPr>
              <a:t>Strumenti di Analisi PGTU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2CFDA08-3985-14AC-B3EC-DEAAF6592637}"/>
              </a:ext>
            </a:extLst>
          </p:cNvPr>
          <p:cNvSpPr txBox="1"/>
          <p:nvPr/>
        </p:nvSpPr>
        <p:spPr>
          <a:xfrm>
            <a:off x="308228" y="582066"/>
            <a:ext cx="7639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i="1" dirty="0"/>
              <a:t>Risultati del processo di matching TomTom → PGTU</a:t>
            </a:r>
          </a:p>
        </p:txBody>
      </p:sp>
      <p:pic>
        <p:nvPicPr>
          <p:cNvPr id="5" name="Immagine 4" descr="Immagine che contiene schermata&#10;&#10;Il contenuto generato dall'IA potrebbe non essere corretto.">
            <a:extLst>
              <a:ext uri="{FF2B5EF4-FFF2-40B4-BE49-F238E27FC236}">
                <a16:creationId xmlns:a16="http://schemas.microsoft.com/office/drawing/2014/main" id="{5E03B2DC-C8BF-F1DB-8153-00B894EEE4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28" y="1037192"/>
            <a:ext cx="5185612" cy="5577275"/>
          </a:xfrm>
          <a:prstGeom prst="rect">
            <a:avLst/>
          </a:prstGeom>
        </p:spPr>
      </p:pic>
      <p:pic>
        <p:nvPicPr>
          <p:cNvPr id="12" name="Immagine 11" descr="Immagine che contiene schermata, arte&#10;&#10;Il contenuto generato dall'IA potrebbe non essere corretto.">
            <a:extLst>
              <a:ext uri="{FF2B5EF4-FFF2-40B4-BE49-F238E27FC236}">
                <a16:creationId xmlns:a16="http://schemas.microsoft.com/office/drawing/2014/main" id="{13BBF0AB-D43D-CB18-DC76-F5F32DEA0A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602" y="0"/>
            <a:ext cx="63763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071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F1360-C53C-65E5-E5A4-E57C8C93F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CBC1F45D-AC32-4FBE-0E53-493AE9EAF764}"/>
              </a:ext>
            </a:extLst>
          </p:cNvPr>
          <p:cNvSpPr txBox="1"/>
          <p:nvPr/>
        </p:nvSpPr>
        <p:spPr>
          <a:xfrm>
            <a:off x="182880" y="173736"/>
            <a:ext cx="11027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atin typeface="Arial" panose="020B0604020202020204" pitchFamily="34" charset="0"/>
                <a:cs typeface="Arial" panose="020B0604020202020204" pitchFamily="34" charset="0"/>
              </a:rPr>
              <a:t>Strumenti di Analisi PGTU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CA54141-6FBB-42EA-CF09-4A041FBD2840}"/>
              </a:ext>
            </a:extLst>
          </p:cNvPr>
          <p:cNvSpPr txBox="1"/>
          <p:nvPr/>
        </p:nvSpPr>
        <p:spPr>
          <a:xfrm>
            <a:off x="308228" y="582066"/>
            <a:ext cx="7639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i="1" dirty="0"/>
              <a:t>Risultati del processo di matching TomTom → PGTU</a:t>
            </a:r>
          </a:p>
        </p:txBody>
      </p:sp>
      <p:pic>
        <p:nvPicPr>
          <p:cNvPr id="3" name="Immagine 2" descr="Immagine che contiene schermata, euryalina, arte&#10;&#10;Il contenuto generato dall'IA potrebbe non essere corretto.">
            <a:extLst>
              <a:ext uri="{FF2B5EF4-FFF2-40B4-BE49-F238E27FC236}">
                <a16:creationId xmlns:a16="http://schemas.microsoft.com/office/drawing/2014/main" id="{D7801467-3EDB-3B6E-5E49-016532C51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28" y="1359728"/>
            <a:ext cx="5425135" cy="4389319"/>
          </a:xfrm>
          <a:prstGeom prst="rect">
            <a:avLst/>
          </a:prstGeom>
        </p:spPr>
      </p:pic>
      <p:pic>
        <p:nvPicPr>
          <p:cNvPr id="8" name="Immagine 7" descr="Immagine che contiene testo, mappa, schermata&#10;&#10;Il contenuto generato dall'IA potrebbe non essere corretto.">
            <a:extLst>
              <a:ext uri="{FF2B5EF4-FFF2-40B4-BE49-F238E27FC236}">
                <a16:creationId xmlns:a16="http://schemas.microsoft.com/office/drawing/2014/main" id="{C7149007-6B14-3FE5-B915-CD25119F69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688" y="173736"/>
            <a:ext cx="6215391" cy="663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288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2BA07-900C-365F-10C2-922C6A827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F5718474-7910-4FF2-A256-199F1E05BDF9}"/>
              </a:ext>
            </a:extLst>
          </p:cNvPr>
          <p:cNvSpPr txBox="1"/>
          <p:nvPr/>
        </p:nvSpPr>
        <p:spPr>
          <a:xfrm>
            <a:off x="182880" y="173736"/>
            <a:ext cx="11027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atin typeface="Arial" panose="020B0604020202020204" pitchFamily="34" charset="0"/>
                <a:cs typeface="Arial" panose="020B0604020202020204" pitchFamily="34" charset="0"/>
              </a:rPr>
              <a:t>Strumenti di Analisi PGTU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0A8D098-4AFA-4515-1527-881A04AA7CFC}"/>
              </a:ext>
            </a:extLst>
          </p:cNvPr>
          <p:cNvSpPr txBox="1"/>
          <p:nvPr/>
        </p:nvSpPr>
        <p:spPr>
          <a:xfrm>
            <a:off x="308228" y="582066"/>
            <a:ext cx="7639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i="1" dirty="0"/>
              <a:t>Esportazione Tabelle Excel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1D3C3AB-8488-A74B-501E-32DBB8EDC061}"/>
              </a:ext>
            </a:extLst>
          </p:cNvPr>
          <p:cNvSpPr txBox="1"/>
          <p:nvPr/>
        </p:nvSpPr>
        <p:spPr>
          <a:xfrm>
            <a:off x="401266" y="1105286"/>
            <a:ext cx="5454785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200" b="1" dirty="0"/>
              <a:t>Esportazione risultati in Excel</a:t>
            </a:r>
            <a:endParaRPr lang="it-IT" sz="1200" dirty="0"/>
          </a:p>
          <a:p>
            <a:pPr>
              <a:buNone/>
            </a:pPr>
            <a:r>
              <a:rPr lang="it-IT" sz="1200" dirty="0"/>
              <a:t>Per facilitare analisi e controlli manuali è stato creato un file Excel unico: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200" b="1" dirty="0"/>
              <a:t>File di output</a:t>
            </a:r>
            <a:r>
              <a:rPr lang="it-IT" sz="1200" dirty="0"/>
              <a:t>: </a:t>
            </a:r>
            <a:r>
              <a:rPr lang="it-IT" sz="1200" dirty="0">
                <a:latin typeface="Courier New" panose="02070309020205020404" pitchFamily="49" charset="0"/>
              </a:rPr>
              <a:t>Confronto_PGTU_TOMTOM_new.xlsx</a:t>
            </a:r>
            <a:br>
              <a:rPr lang="it-IT" sz="1200" dirty="0"/>
            </a:br>
            <a:endParaRPr lang="it-IT" sz="1200" dirty="0"/>
          </a:p>
          <a:p>
            <a:pPr>
              <a:buNone/>
            </a:pPr>
            <a:r>
              <a:rPr lang="it-IT" sz="1200" b="1" dirty="0"/>
              <a:t>Contenuto del foglio </a:t>
            </a:r>
            <a:r>
              <a:rPr lang="it-IT" sz="1200" b="1" dirty="0">
                <a:latin typeface="Courier New" panose="02070309020205020404" pitchFamily="49" charset="0"/>
              </a:rPr>
              <a:t>Database</a:t>
            </a:r>
            <a:endParaRPr lang="it-IT" sz="1200" dirty="0"/>
          </a:p>
          <a:p>
            <a:pPr>
              <a:buNone/>
            </a:pPr>
            <a:r>
              <a:rPr lang="it-IT" sz="1200" dirty="0"/>
              <a:t>Ogni riga rappresenta un </a:t>
            </a:r>
            <a:r>
              <a:rPr lang="it-IT" sz="1200" b="1" dirty="0"/>
              <a:t>arco TomTom </a:t>
            </a:r>
            <a:r>
              <a:rPr lang="it-IT" sz="1200" dirty="0"/>
              <a:t>oppure un </a:t>
            </a:r>
            <a:r>
              <a:rPr lang="it-IT" sz="1200" b="1" dirty="0"/>
              <a:t>segmento PGTU senza corrispondenza TomTom</a:t>
            </a:r>
            <a:r>
              <a:rPr lang="it-IT" sz="1200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b="1" dirty="0"/>
              <a:t>Informazioni TomTom</a:t>
            </a:r>
            <a:endParaRPr lang="it-IT" sz="12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sz="1200" dirty="0">
                <a:latin typeface="Courier New" panose="02070309020205020404" pitchFamily="49" charset="0"/>
              </a:rPr>
              <a:t>Id</a:t>
            </a:r>
            <a:r>
              <a:rPr lang="it-IT" sz="1200" dirty="0"/>
              <a:t> (Id arco TomTom; vale </a:t>
            </a:r>
            <a:r>
              <a:rPr lang="it-IT" sz="1200" dirty="0">
                <a:latin typeface="Courier New" panose="02070309020205020404" pitchFamily="49" charset="0"/>
              </a:rPr>
              <a:t>"</a:t>
            </a:r>
            <a:r>
              <a:rPr lang="it-IT" sz="1200" dirty="0" err="1">
                <a:latin typeface="Courier New" panose="02070309020205020404" pitchFamily="49" charset="0"/>
              </a:rPr>
              <a:t>No_Id</a:t>
            </a:r>
            <a:r>
              <a:rPr lang="it-IT" sz="1200" dirty="0">
                <a:latin typeface="Courier New" panose="02070309020205020404" pitchFamily="49" charset="0"/>
              </a:rPr>
              <a:t>"</a:t>
            </a:r>
            <a:r>
              <a:rPr lang="it-IT" sz="1200" dirty="0"/>
              <a:t> per i segmenti PGTU senza TT associato)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sz="1200" dirty="0">
                <a:latin typeface="Courier New" panose="02070309020205020404" pitchFamily="49" charset="0"/>
              </a:rPr>
              <a:t>Nome Strada</a:t>
            </a:r>
            <a:r>
              <a:rPr lang="it-IT" sz="1200" dirty="0"/>
              <a:t> (da </a:t>
            </a:r>
            <a:r>
              <a:rPr lang="it-IT" sz="1200" dirty="0" err="1">
                <a:latin typeface="Courier New" panose="02070309020205020404" pitchFamily="49" charset="0"/>
              </a:rPr>
              <a:t>StreetName</a:t>
            </a:r>
            <a:r>
              <a:rPr lang="it-IT" sz="1200" dirty="0"/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sz="1200" dirty="0">
                <a:latin typeface="Courier New" panose="02070309020205020404" pitchFamily="49" charset="0"/>
              </a:rPr>
              <a:t>Flussi Giornalieri</a:t>
            </a:r>
            <a:r>
              <a:rPr lang="it-IT" sz="1200" dirty="0"/>
              <a:t> (da </a:t>
            </a:r>
            <a:r>
              <a:rPr lang="it-IT" sz="1200" dirty="0">
                <a:latin typeface="Courier New" panose="02070309020205020404" pitchFamily="49" charset="0"/>
              </a:rPr>
              <a:t>VEIC_DAY_TOT</a:t>
            </a:r>
            <a:r>
              <a:rPr lang="it-IT" sz="1200" dirty="0"/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sz="1200" dirty="0" err="1">
                <a:latin typeface="Courier New" panose="02070309020205020404" pitchFamily="49" charset="0"/>
              </a:rPr>
              <a:t>Lunghezza_TT_m</a:t>
            </a:r>
            <a:r>
              <a:rPr lang="it-IT" sz="1200" dirty="0"/>
              <a:t> (lunghezza geometrica dell’arco TomTom)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sz="1200" dirty="0" err="1">
                <a:latin typeface="Courier New" panose="02070309020205020404" pitchFamily="49" charset="0"/>
              </a:rPr>
              <a:t>tt_geom_wkt</a:t>
            </a:r>
            <a:r>
              <a:rPr lang="it-IT" sz="1200" dirty="0"/>
              <a:t> (geometria TT in formato WKT)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b="1" dirty="0"/>
              <a:t>Informazioni PGTU (a livello di segmento)</a:t>
            </a:r>
            <a:endParaRPr lang="it-IT" sz="12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sz="1200" dirty="0">
                <a:latin typeface="Courier New" panose="02070309020205020404" pitchFamily="49" charset="0"/>
              </a:rPr>
              <a:t>Id Segmento PGTU</a:t>
            </a:r>
            <a:r>
              <a:rPr lang="it-IT" sz="1200" dirty="0"/>
              <a:t> (</a:t>
            </a:r>
            <a:r>
              <a:rPr lang="it-IT" sz="1200" dirty="0" err="1">
                <a:latin typeface="Courier New" panose="02070309020205020404" pitchFamily="49" charset="0"/>
              </a:rPr>
              <a:t>PGTU_seg_id</a:t>
            </a:r>
            <a:r>
              <a:rPr lang="it-IT" sz="1200" dirty="0"/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sz="1200" dirty="0">
                <a:latin typeface="Courier New" panose="02070309020205020404" pitchFamily="49" charset="0"/>
              </a:rPr>
              <a:t>Id PGTU</a:t>
            </a:r>
            <a:r>
              <a:rPr lang="it-IT" sz="1200" dirty="0"/>
              <a:t> (Id strada originario)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sz="1200" dirty="0">
                <a:latin typeface="Courier New" panose="02070309020205020404" pitchFamily="49" charset="0"/>
              </a:rPr>
              <a:t>Toponomastica</a:t>
            </a:r>
            <a:endParaRPr lang="it-IT" sz="12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sz="1200" dirty="0">
                <a:latin typeface="Courier New" panose="02070309020205020404" pitchFamily="49" charset="0"/>
              </a:rPr>
              <a:t>Classifica</a:t>
            </a:r>
            <a:endParaRPr lang="it-IT" sz="12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sz="1200" dirty="0" err="1">
                <a:latin typeface="Courier New" panose="02070309020205020404" pitchFamily="49" charset="0"/>
              </a:rPr>
              <a:t>Lunghezza_PGTU_m</a:t>
            </a:r>
            <a:r>
              <a:rPr lang="it-IT" sz="1200" dirty="0"/>
              <a:t> (lunghezza del segmento PGTU)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sz="1200" dirty="0" err="1">
                <a:latin typeface="Courier New" panose="02070309020205020404" pitchFamily="49" charset="0"/>
              </a:rPr>
              <a:t>pgtu_geom_wkt</a:t>
            </a:r>
            <a:r>
              <a:rPr lang="it-IT" sz="1200" dirty="0"/>
              <a:t> (geometria del segmento PGTU in WKT)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b="1" dirty="0"/>
              <a:t>Flag strutturali</a:t>
            </a:r>
            <a:endParaRPr lang="it-IT" sz="12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sz="1200" dirty="0" err="1">
                <a:latin typeface="Courier New" panose="02070309020205020404" pitchFamily="49" charset="0"/>
              </a:rPr>
              <a:t>Is_PGTU</a:t>
            </a:r>
            <a:r>
              <a:rPr lang="it-IT" sz="1200" dirty="0"/>
              <a:t>: =1 se l’arco è associato a un segmento PGTU (compresi i segmenti PGTU senza TT, aggiunti esplicitamente), 0 altrimenti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sz="1200" dirty="0">
                <a:latin typeface="Courier New" panose="02070309020205020404" pitchFamily="49" charset="0"/>
              </a:rPr>
              <a:t>IS_TPL</a:t>
            </a:r>
            <a:r>
              <a:rPr lang="it-IT" sz="1200" dirty="0"/>
              <a:t>: =1 se il segmento PGTU è classificato come asse con TPL, 0 altrimenti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sz="1200" dirty="0">
                <a:latin typeface="Courier New" panose="02070309020205020404" pitchFamily="49" charset="0"/>
              </a:rPr>
              <a:t>IS_GV</a:t>
            </a:r>
            <a:r>
              <a:rPr lang="it-IT" sz="1200" dirty="0"/>
              <a:t>: =1 se il segmento è in </a:t>
            </a:r>
            <a:r>
              <a:rPr lang="it-IT" sz="1200" b="1" dirty="0"/>
              <a:t>Grande Viabilità 2019</a:t>
            </a:r>
            <a:r>
              <a:rPr lang="it-IT" sz="1200" dirty="0"/>
              <a:t>, 0 altrimenti</a:t>
            </a:r>
          </a:p>
          <a:p>
            <a:pPr>
              <a:buNone/>
            </a:pPr>
            <a:br>
              <a:rPr lang="it-IT" sz="1200" dirty="0"/>
            </a:br>
            <a:endParaRPr lang="it-IT" sz="1200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8154827-B0B7-F2B3-A359-319216F4EEA7}"/>
              </a:ext>
            </a:extLst>
          </p:cNvPr>
          <p:cNvSpPr txBox="1"/>
          <p:nvPr/>
        </p:nvSpPr>
        <p:spPr>
          <a:xfrm>
            <a:off x="6096000" y="1105286"/>
            <a:ext cx="569473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200" b="1" dirty="0"/>
              <a:t>Integrazione dei segmenti PGTU senza TomTom</a:t>
            </a:r>
            <a:endParaRPr lang="it-IT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/>
              <a:t>Sono stati identificati i </a:t>
            </a:r>
            <a:r>
              <a:rPr lang="it-IT" sz="1200" b="1" dirty="0"/>
              <a:t>segmenti PGTU privi di qualsiasi arco TomTom associato</a:t>
            </a:r>
            <a:r>
              <a:rPr lang="it-IT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/>
              <a:t>Tali segmenti sono stati </a:t>
            </a:r>
            <a:r>
              <a:rPr lang="it-IT" sz="1200" b="1" dirty="0"/>
              <a:t>aggiunti in coda</a:t>
            </a:r>
            <a:r>
              <a:rPr lang="it-IT" sz="1200" dirty="0"/>
              <a:t> al foglio </a:t>
            </a:r>
            <a:r>
              <a:rPr lang="it-IT" sz="1200" dirty="0">
                <a:latin typeface="Courier New" panose="02070309020205020404" pitchFamily="49" charset="0"/>
              </a:rPr>
              <a:t>Database.</a:t>
            </a:r>
            <a:br>
              <a:rPr lang="it-IT" sz="1200" dirty="0"/>
            </a:br>
            <a:endParaRPr lang="it-IT" sz="1200" dirty="0"/>
          </a:p>
          <a:p>
            <a:pPr>
              <a:buNone/>
            </a:pPr>
            <a:r>
              <a:rPr lang="it-IT" sz="1200" b="1" dirty="0"/>
              <a:t>Flag sulle soglie di flusso</a:t>
            </a:r>
            <a:endParaRPr lang="it-IT" sz="1200" dirty="0"/>
          </a:p>
          <a:p>
            <a:pPr>
              <a:buNone/>
            </a:pPr>
            <a:r>
              <a:rPr lang="it-IT" sz="1200" dirty="0"/>
              <a:t>Le tre colonne: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>
                <a:latin typeface="Courier New" panose="02070309020205020404" pitchFamily="49" charset="0"/>
              </a:rPr>
              <a:t>Flag_over_soglia1_noPGTU = 1</a:t>
            </a:r>
            <a:r>
              <a:rPr lang="it-IT" sz="1200" dirty="0"/>
              <a:t> se</a:t>
            </a:r>
            <a:br>
              <a:rPr lang="it-IT" sz="1200" dirty="0"/>
            </a:br>
            <a:r>
              <a:rPr lang="it-IT" sz="1200" b="1" dirty="0"/>
              <a:t>Flussi Giornalieri ≥ 10.000</a:t>
            </a:r>
            <a:r>
              <a:rPr lang="it-IT" sz="1200" dirty="0"/>
              <a:t> e </a:t>
            </a:r>
            <a:r>
              <a:rPr lang="it-IT" sz="1200" b="1" dirty="0" err="1"/>
              <a:t>Is_PGTU</a:t>
            </a:r>
            <a:r>
              <a:rPr lang="it-IT" sz="1200" b="1" dirty="0"/>
              <a:t> = 0</a:t>
            </a:r>
            <a:r>
              <a:rPr lang="it-IT" sz="1200" dirty="0"/>
              <a:t> (arco TomTom non allineato a PGTU)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>
                <a:latin typeface="Courier New" panose="02070309020205020404" pitchFamily="49" charset="0"/>
              </a:rPr>
              <a:t>Flag_over_soglia2_noPGTU = 1</a:t>
            </a:r>
            <a:r>
              <a:rPr lang="it-IT" sz="1200" dirty="0"/>
              <a:t> se</a:t>
            </a:r>
            <a:br>
              <a:rPr lang="it-IT" sz="1200" dirty="0"/>
            </a:br>
            <a:r>
              <a:rPr lang="it-IT" sz="1200" b="1" dirty="0"/>
              <a:t>Flussi Giornalieri ≥ 5.000</a:t>
            </a:r>
            <a:r>
              <a:rPr lang="it-IT" sz="1200" dirty="0"/>
              <a:t> e </a:t>
            </a:r>
            <a:r>
              <a:rPr lang="it-IT" sz="1200" b="1" dirty="0" err="1"/>
              <a:t>Is_PGTU</a:t>
            </a:r>
            <a:r>
              <a:rPr lang="it-IT" sz="1200" b="1" dirty="0"/>
              <a:t> = 0</a:t>
            </a:r>
            <a:endParaRPr lang="it-IT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>
                <a:latin typeface="Courier New" panose="02070309020205020404" pitchFamily="49" charset="0"/>
              </a:rPr>
              <a:t>Flag_over_soglia3_noPGTU = 1</a:t>
            </a:r>
            <a:r>
              <a:rPr lang="it-IT" sz="1200" dirty="0"/>
              <a:t> se</a:t>
            </a:r>
            <a:br>
              <a:rPr lang="it-IT" sz="1200" dirty="0"/>
            </a:br>
            <a:r>
              <a:rPr lang="it-IT" sz="1200" b="1" dirty="0"/>
              <a:t>Flussi Giornalieri ≥ 3.000</a:t>
            </a:r>
            <a:r>
              <a:rPr lang="it-IT" sz="1200" dirty="0"/>
              <a:t> e </a:t>
            </a:r>
            <a:r>
              <a:rPr lang="it-IT" sz="1200" b="1" dirty="0" err="1"/>
              <a:t>Is_PGTU</a:t>
            </a:r>
            <a:r>
              <a:rPr lang="it-IT" sz="1200" b="1" dirty="0"/>
              <a:t> = 0</a:t>
            </a:r>
            <a:endParaRPr lang="it-IT" sz="1200" dirty="0"/>
          </a:p>
          <a:p>
            <a:pPr>
              <a:buNone/>
            </a:pPr>
            <a:r>
              <a:rPr lang="it-IT" sz="1200" dirty="0"/>
              <a:t>Questo consente in Excel di filtrare rapidamente archi </a:t>
            </a:r>
            <a:r>
              <a:rPr lang="it-IT" sz="1200" b="1" dirty="0"/>
              <a:t>ad alto flusso</a:t>
            </a:r>
            <a:r>
              <a:rPr lang="it-IT" sz="1200" dirty="0"/>
              <a:t> non presenti nella rete PGTU, con livelli di priorità crescenti (≥10k, ≥5k, ≥3k </a:t>
            </a:r>
            <a:r>
              <a:rPr lang="it-IT" sz="1200" dirty="0" err="1"/>
              <a:t>veic</a:t>
            </a:r>
            <a:r>
              <a:rPr lang="it-IT" sz="1200" dirty="0"/>
              <a:t>/gg).</a:t>
            </a:r>
          </a:p>
          <a:p>
            <a:pPr>
              <a:buNone/>
            </a:pPr>
            <a:br>
              <a:rPr lang="it-IT" sz="1200" dirty="0"/>
            </a:br>
            <a:endParaRPr lang="it-IT" sz="1200" dirty="0"/>
          </a:p>
          <a:p>
            <a:pPr>
              <a:buNone/>
            </a:pPr>
            <a:r>
              <a:rPr lang="it-IT" sz="1200" b="1" dirty="0"/>
              <a:t>Controllo di coerenza della toponomastica</a:t>
            </a:r>
            <a:endParaRPr lang="it-IT" sz="1200" dirty="0"/>
          </a:p>
          <a:p>
            <a:pPr>
              <a:buNone/>
            </a:pPr>
            <a:r>
              <a:rPr lang="it-IT" sz="1200" dirty="0"/>
              <a:t>È stata introdotta una colonna aggiuntiva: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 err="1">
                <a:latin typeface="Courier New" panose="02070309020205020404" pitchFamily="49" charset="0"/>
              </a:rPr>
              <a:t>Flag_nome_da_verificare</a:t>
            </a:r>
            <a:endParaRPr lang="it-IT" sz="1200" dirty="0"/>
          </a:p>
          <a:p>
            <a:pPr>
              <a:buNone/>
            </a:pPr>
            <a:r>
              <a:rPr lang="it-IT" sz="1200" dirty="0"/>
              <a:t>che assume valore: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>
                <a:latin typeface="Courier New" panose="02070309020205020404" pitchFamily="49" charset="0"/>
              </a:rPr>
              <a:t>0</a:t>
            </a:r>
            <a:r>
              <a:rPr lang="it-IT" sz="1200" dirty="0"/>
              <a:t> se </a:t>
            </a:r>
            <a:r>
              <a:rPr lang="it-IT" sz="1200" b="1" dirty="0"/>
              <a:t>Nome Strada (TomTom)</a:t>
            </a:r>
            <a:r>
              <a:rPr lang="it-IT" sz="1200" dirty="0"/>
              <a:t> e </a:t>
            </a:r>
            <a:r>
              <a:rPr lang="it-IT" sz="1200" b="1" dirty="0"/>
              <a:t>Toponomastica (PGTU)</a:t>
            </a:r>
            <a:r>
              <a:rPr lang="it-IT" sz="1200" dirty="0"/>
              <a:t> condividono almeno una parola “significativa” (escluse forme tipo “via”, “viale”, “di”, ecc.)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>
                <a:latin typeface="Courier New" panose="02070309020205020404" pitchFamily="49" charset="0"/>
              </a:rPr>
              <a:t>1</a:t>
            </a:r>
            <a:r>
              <a:rPr lang="it-IT" sz="1200" dirty="0"/>
              <a:t> se non vi sono parole significative in comune.</a:t>
            </a:r>
          </a:p>
          <a:p>
            <a:pPr>
              <a:buNone/>
            </a:pPr>
            <a:r>
              <a:rPr lang="it-IT" sz="1200" dirty="0"/>
              <a:t>Questo flag permette di mettere rapidamente in evidenza i casi in cui: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/>
              <a:t>il match geometrico è formalmente corretto,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/>
              <a:t>ma la denominazione tra TomTom e PGTU è potenzialmente incoerente e richiede una verifica manuale.</a:t>
            </a:r>
          </a:p>
        </p:txBody>
      </p:sp>
    </p:spTree>
    <p:extLst>
      <p:ext uri="{BB962C8B-B14F-4D97-AF65-F5344CB8AC3E}">
        <p14:creationId xmlns:p14="http://schemas.microsoft.com/office/powerpoint/2010/main" val="3977815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D9197-B023-EE4A-40C9-AD718CC75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4D6D89DA-BEE4-72B2-CD7A-BA16BEFBB2AD}"/>
              </a:ext>
            </a:extLst>
          </p:cNvPr>
          <p:cNvSpPr txBox="1"/>
          <p:nvPr/>
        </p:nvSpPr>
        <p:spPr>
          <a:xfrm>
            <a:off x="182880" y="173736"/>
            <a:ext cx="11027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atin typeface="Arial" panose="020B0604020202020204" pitchFamily="34" charset="0"/>
                <a:cs typeface="Arial" panose="020B0604020202020204" pitchFamily="34" charset="0"/>
              </a:rPr>
              <a:t>Strumenti di Analisi PGTU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D170AA6-20C5-2209-6CFA-E411356A6025}"/>
              </a:ext>
            </a:extLst>
          </p:cNvPr>
          <p:cNvSpPr txBox="1"/>
          <p:nvPr/>
        </p:nvSpPr>
        <p:spPr>
          <a:xfrm>
            <a:off x="308228" y="582066"/>
            <a:ext cx="7639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i="1" dirty="0"/>
              <a:t>Matching archi TomTom – linee ATAC</a:t>
            </a:r>
            <a:endParaRPr lang="it-IT" i="1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641E672-4D9C-F091-282C-AE7B47A2B5B0}"/>
              </a:ext>
            </a:extLst>
          </p:cNvPr>
          <p:cNvSpPr txBox="1"/>
          <p:nvPr/>
        </p:nvSpPr>
        <p:spPr>
          <a:xfrm>
            <a:off x="420721" y="1105286"/>
            <a:ext cx="5824436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Si parte dal database integrato </a:t>
            </a:r>
            <a:r>
              <a:rPr lang="it-IT" sz="1400" dirty="0">
                <a:latin typeface="Courier New" panose="02070309020205020404" pitchFamily="49" charset="0"/>
              </a:rPr>
              <a:t>Confronto_PGTU_TOMTOM_new.xlsx</a:t>
            </a:r>
            <a:r>
              <a:rPr lang="it-IT" sz="1400" dirty="0"/>
              <a:t> (foglio </a:t>
            </a:r>
            <a:r>
              <a:rPr lang="it-IT" sz="1400" i="1" dirty="0"/>
              <a:t>Database</a:t>
            </a:r>
            <a:r>
              <a:rPr lang="it-IT" sz="1400" dirty="0"/>
              <a:t>), da cui si estraggono tutti gli archi TomTom con geometria valida (94.148 archi su 94.223 righe totali, esclusi solo 75 record senza WKT).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Si leggono le linee ATAC da </a:t>
            </a:r>
            <a:r>
              <a:rPr lang="it-IT" sz="1400" dirty="0" err="1"/>
              <a:t>shapefile</a:t>
            </a:r>
            <a:r>
              <a:rPr lang="it-IT" sz="1400" dirty="0"/>
              <a:t> (2.186 elementi), si selezionano solo le linee </a:t>
            </a:r>
            <a:r>
              <a:rPr lang="it-IT" sz="1400" b="1" dirty="0"/>
              <a:t>attive</a:t>
            </a:r>
            <a:r>
              <a:rPr lang="it-IT" sz="1400" dirty="0"/>
              <a:t> (902) e si allineano tutte le geometrie in </a:t>
            </a:r>
            <a:r>
              <a:rPr lang="it-IT" sz="1400" b="1" dirty="0"/>
              <a:t>EPSG:3004</a:t>
            </a:r>
            <a:r>
              <a:rPr lang="it-IT" sz="1400" dirty="0"/>
              <a:t>. Le linee attive vengono bufferizzate di </a:t>
            </a:r>
            <a:r>
              <a:rPr lang="it-IT" sz="1400" b="1" dirty="0"/>
              <a:t>30 m</a:t>
            </a:r>
            <a:r>
              <a:rPr lang="it-IT" sz="1400" dirty="0"/>
              <a:t> per rappresentare il corridoio influenzato dal trasporto pubblico.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Il matching TT–ATAC viene effettuato </a:t>
            </a:r>
            <a:r>
              <a:rPr lang="it-IT" sz="1400" b="1" dirty="0"/>
              <a:t>solo</a:t>
            </a:r>
            <a:r>
              <a:rPr lang="it-IT" sz="1400" dirty="0"/>
              <a:t> sugli archi TomTom con: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b="1" dirty="0"/>
              <a:t>Flussi Giornalieri &gt; 1.000 </a:t>
            </a:r>
            <a:r>
              <a:rPr lang="it-IT" sz="1400" b="1" dirty="0" err="1"/>
              <a:t>veic</a:t>
            </a:r>
            <a:r>
              <a:rPr lang="it-IT" sz="1400" b="1" dirty="0"/>
              <a:t>/g</a:t>
            </a:r>
            <a:endParaRPr lang="it-IT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b="1" dirty="0"/>
              <a:t>Lunghezza ≥ 5 m</a:t>
            </a:r>
            <a:br>
              <a:rPr lang="it-IT" sz="1400" dirty="0"/>
            </a:br>
            <a:r>
              <a:rPr lang="it-IT" sz="1400" dirty="0"/>
              <a:t>→ 71.711 archi (contro 22.437 archi TT sotto soglia, esclusi dal match ma mantenuti nel database).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Per ciascun arco TT sopra soglia: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/>
              <a:t>si individuano i buffer ATAC candidati tramite </a:t>
            </a:r>
            <a:r>
              <a:rPr lang="it-IT" sz="1400" b="1" dirty="0" err="1"/>
              <a:t>spatial</a:t>
            </a:r>
            <a:r>
              <a:rPr lang="it-IT" sz="1400" b="1" dirty="0"/>
              <a:t> index</a:t>
            </a:r>
            <a:r>
              <a:rPr lang="it-IT" sz="1400" dirty="0"/>
              <a:t>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/>
              <a:t>per ogni candidato si calcola l’</a:t>
            </a:r>
            <a:r>
              <a:rPr lang="it-IT" sz="1400" b="1" dirty="0"/>
              <a:t>orientamento locale</a:t>
            </a:r>
            <a:r>
              <a:rPr lang="it-IT" sz="1400" dirty="0"/>
              <a:t> di TT e ATAC nel punto di minima distanza (finestra di ±5 m lungo la linea);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/>
              <a:t>il candidato è accettato solo se la </a:t>
            </a:r>
            <a:r>
              <a:rPr lang="it-IT" sz="1400" b="1" dirty="0"/>
              <a:t>differenza angolare locale ≤ 45°</a:t>
            </a:r>
            <a:r>
              <a:rPr lang="it-IT" sz="1400" dirty="0"/>
              <a:t> (coerenza di direzione) e se la lunghezza di intersezione TT–buffer è </a:t>
            </a:r>
            <a:r>
              <a:rPr lang="it-IT" sz="1400" b="1" dirty="0"/>
              <a:t>≥ 3 m</a:t>
            </a:r>
            <a:r>
              <a:rPr lang="it-IT" sz="1400" dirty="0"/>
              <a:t>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/>
              <a:t>si calcola la quota di arco coperta dal buffer (</a:t>
            </a:r>
            <a:r>
              <a:rPr lang="it-IT" sz="1400" b="1" dirty="0"/>
              <a:t>overlap_pct_atac30m</a:t>
            </a:r>
            <a:r>
              <a:rPr lang="it-IT" sz="1400" dirty="0"/>
              <a:t> = </a:t>
            </a:r>
            <a:r>
              <a:rPr lang="it-IT" sz="1400" dirty="0" err="1"/>
              <a:t>overlap_len</a:t>
            </a:r>
            <a:r>
              <a:rPr lang="it-IT" sz="1400" dirty="0"/>
              <a:t> / </a:t>
            </a:r>
            <a:r>
              <a:rPr lang="it-IT" sz="1400" dirty="0" err="1"/>
              <a:t>tt_len</a:t>
            </a:r>
            <a:r>
              <a:rPr lang="it-IT" sz="1400" dirty="0"/>
              <a:t>) e si tiene, per ogni arco TT, il valore massimo; il ciclo si interrompe in </a:t>
            </a:r>
            <a:r>
              <a:rPr lang="it-IT" sz="1400" b="1" dirty="0" err="1"/>
              <a:t>early</a:t>
            </a:r>
            <a:r>
              <a:rPr lang="it-IT" sz="1400" b="1" dirty="0"/>
              <a:t>-stop</a:t>
            </a:r>
            <a:r>
              <a:rPr lang="it-IT" sz="1400" dirty="0"/>
              <a:t> se si raggiunge almeno il </a:t>
            </a:r>
            <a:r>
              <a:rPr lang="it-IT" sz="1400" b="1" dirty="0"/>
              <a:t>60%</a:t>
            </a:r>
            <a:r>
              <a:rPr lang="it-IT" sz="1400" dirty="0"/>
              <a:t> di </a:t>
            </a:r>
            <a:r>
              <a:rPr lang="it-IT" sz="1400" dirty="0" err="1"/>
              <a:t>overlap</a:t>
            </a:r>
            <a:r>
              <a:rPr lang="it-IT" sz="1400" dirty="0"/>
              <a:t>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1F87CA2-FD9F-BCD4-31AE-790A452270B1}"/>
              </a:ext>
            </a:extLst>
          </p:cNvPr>
          <p:cNvSpPr txBox="1"/>
          <p:nvPr/>
        </p:nvSpPr>
        <p:spPr>
          <a:xfrm>
            <a:off x="6481053" y="1105286"/>
            <a:ext cx="543533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Risultati sul campione di 71.711 archi TT (flussi &gt;1.000 &amp; ≥5 m):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b="1" dirty="0"/>
              <a:t>51.040 archi</a:t>
            </a:r>
            <a:r>
              <a:rPr lang="it-IT" sz="1400" dirty="0"/>
              <a:t> hanno almeno una intersezione coerente con una linea ATAC attiva</a:t>
            </a:r>
            <a:br>
              <a:rPr lang="it-IT" sz="1400" dirty="0"/>
            </a:br>
            <a:r>
              <a:rPr lang="it-IT" sz="1400" dirty="0"/>
              <a:t>→ </a:t>
            </a:r>
            <a:r>
              <a:rPr lang="it-IT" sz="1400" b="1" dirty="0"/>
              <a:t>71,2%</a:t>
            </a:r>
            <a:r>
              <a:rPr lang="it-IT" sz="1400" dirty="0"/>
              <a:t> degli archi sopra soglia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b="1" dirty="0"/>
              <a:t>20.671 archi</a:t>
            </a:r>
            <a:r>
              <a:rPr lang="it-IT" sz="1400" dirty="0"/>
              <a:t> non presentano alcun </a:t>
            </a:r>
            <a:r>
              <a:rPr lang="it-IT" sz="1400" dirty="0" err="1"/>
              <a:t>overlap</a:t>
            </a:r>
            <a:r>
              <a:rPr lang="it-IT" sz="1400" dirty="0"/>
              <a:t> significativo con ATAC</a:t>
            </a:r>
            <a:br>
              <a:rPr lang="it-IT" sz="1400" dirty="0"/>
            </a:br>
            <a:r>
              <a:rPr lang="it-IT" sz="1400" dirty="0"/>
              <a:t>→ </a:t>
            </a:r>
            <a:r>
              <a:rPr lang="it-IT" sz="1400" b="1" dirty="0"/>
              <a:t>28,8%</a:t>
            </a:r>
            <a:r>
              <a:rPr lang="it-IT" sz="1400" dirty="0"/>
              <a:t> degli archi sopra soglia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I risultati (overlap_len_atac30m, overlap_pct_atac30m, flag binario </a:t>
            </a:r>
            <a:r>
              <a:rPr lang="it-IT" sz="1400" b="1" dirty="0" err="1"/>
              <a:t>atac_intersect</a:t>
            </a:r>
            <a:r>
              <a:rPr lang="it-IT" sz="1400" dirty="0"/>
              <a:t>) vengono riportati tramite join su </a:t>
            </a:r>
            <a:r>
              <a:rPr lang="it-IT" sz="1400" b="1" dirty="0"/>
              <a:t>Id TomTom</a:t>
            </a:r>
            <a:r>
              <a:rPr lang="it-IT" sz="1400" dirty="0"/>
              <a:t> su </a:t>
            </a:r>
            <a:r>
              <a:rPr lang="it-IT" sz="1400" b="1" dirty="0"/>
              <a:t>tutto il Database</a:t>
            </a:r>
            <a:r>
              <a:rPr lang="it-IT" sz="1400" dirty="0"/>
              <a:t> (inclusi archi TT sotto soglia e segmenti PGTU-</a:t>
            </a:r>
            <a:r>
              <a:rPr lang="it-IT" sz="1400" dirty="0" err="1"/>
              <a:t>only</a:t>
            </a:r>
            <a:r>
              <a:rPr lang="it-IT" sz="1400" dirty="0"/>
              <a:t>).</a:t>
            </a:r>
            <a:br>
              <a:rPr lang="it-IT" sz="1400" dirty="0"/>
            </a:br>
            <a:r>
              <a:rPr lang="it-IT" sz="1400" dirty="0"/>
              <a:t>Da questi flag viene derivata la nuova variabile </a:t>
            </a:r>
            <a:r>
              <a:rPr lang="it-IT" sz="1400" b="1" dirty="0" err="1"/>
              <a:t>Is_ATAC</a:t>
            </a:r>
            <a:r>
              <a:rPr lang="it-IT" sz="1400" dirty="0"/>
              <a:t> (1 se l’arco TT risulta servito/affiancato da una linea ATAC entro 30 m, 0 altrimenti).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Il database aggiornato viene salvato in due formati: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b="1" dirty="0">
                <a:latin typeface="Courier New" panose="02070309020205020404" pitchFamily="49" charset="0"/>
              </a:rPr>
              <a:t>Database_PGTU_TOMTOM_ATAC.xlsx</a:t>
            </a:r>
            <a:r>
              <a:rPr lang="it-IT" sz="1400" dirty="0"/>
              <a:t> (foglio </a:t>
            </a:r>
            <a:r>
              <a:rPr lang="it-IT" sz="1400" i="1" dirty="0"/>
              <a:t>Database</a:t>
            </a:r>
            <a:r>
              <a:rPr lang="it-IT" sz="1400" dirty="0"/>
              <a:t> con tutte le variabili)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b="1" dirty="0">
                <a:latin typeface="Courier New" panose="02070309020205020404" pitchFamily="49" charset="0"/>
              </a:rPr>
              <a:t>Database_PGTU_TOMTOM_ATAC.csv</a:t>
            </a:r>
            <a:r>
              <a:rPr lang="it-IT" sz="1400" dirty="0"/>
              <a:t> (separatore </a:t>
            </a:r>
            <a:r>
              <a:rPr lang="it-IT" sz="1400" dirty="0">
                <a:latin typeface="Courier New" panose="02070309020205020404" pitchFamily="49" charset="0"/>
              </a:rPr>
              <a:t>;</a:t>
            </a:r>
            <a:r>
              <a:rPr lang="it-IT" sz="1400" dirty="0"/>
              <a:t>)</a:t>
            </a:r>
            <a:br>
              <a:rPr lang="it-IT" sz="1400" dirty="0"/>
            </a:br>
            <a:r>
              <a:rPr lang="it-IT" sz="1400" dirty="0"/>
              <a:t>che diventano la base per tutte le analisi successive integrate </a:t>
            </a:r>
            <a:r>
              <a:rPr lang="it-IT" sz="1400" b="1" dirty="0"/>
              <a:t>PGTU–TomTom–ATAC</a:t>
            </a:r>
            <a:r>
              <a:rPr lang="it-IT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00030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9FF93-74B2-7A02-465B-24474CE46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9AC7793C-599F-E018-D156-840E408569E1}"/>
              </a:ext>
            </a:extLst>
          </p:cNvPr>
          <p:cNvSpPr txBox="1"/>
          <p:nvPr/>
        </p:nvSpPr>
        <p:spPr>
          <a:xfrm>
            <a:off x="182880" y="173736"/>
            <a:ext cx="11027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atin typeface="Arial" panose="020B0604020202020204" pitchFamily="34" charset="0"/>
                <a:cs typeface="Arial" panose="020B0604020202020204" pitchFamily="34" charset="0"/>
              </a:rPr>
              <a:t>Strumenti di Analisi PGTU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8C1B557-FDA8-6B6C-0716-2C5484F0ECB4}"/>
              </a:ext>
            </a:extLst>
          </p:cNvPr>
          <p:cNvSpPr txBox="1"/>
          <p:nvPr/>
        </p:nvSpPr>
        <p:spPr>
          <a:xfrm>
            <a:off x="308228" y="582066"/>
            <a:ext cx="7639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i="1" dirty="0"/>
              <a:t>Matching archi TomTom – linee ATAC</a:t>
            </a:r>
            <a:endParaRPr lang="it-IT" i="1" dirty="0"/>
          </a:p>
        </p:txBody>
      </p:sp>
      <p:pic>
        <p:nvPicPr>
          <p:cNvPr id="9" name="Immagine 8" descr="Immagine che contiene testo, mappa, diagramma, atlante&#10;&#10;Il contenuto generato dall'IA potrebbe non essere corretto.">
            <a:extLst>
              <a:ext uri="{FF2B5EF4-FFF2-40B4-BE49-F238E27FC236}">
                <a16:creationId xmlns:a16="http://schemas.microsoft.com/office/drawing/2014/main" id="{49420F2C-F560-B8BD-1924-1AB572FCD1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8" r="17521"/>
          <a:stretch>
            <a:fillRect/>
          </a:stretch>
        </p:blipFill>
        <p:spPr>
          <a:xfrm>
            <a:off x="105987" y="951398"/>
            <a:ext cx="4021875" cy="5906602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58EBAE39-9D30-E881-6A1C-F810DEAF91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12" t="44222" r="23556" b="4555"/>
          <a:stretch>
            <a:fillRect/>
          </a:stretch>
        </p:blipFill>
        <p:spPr>
          <a:xfrm>
            <a:off x="5057896" y="173736"/>
            <a:ext cx="6951224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672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2AA63-B030-ACBC-D835-FA9ACF34D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14F0C1AD-D6FD-54E2-6F6D-CFC9C330793A}"/>
              </a:ext>
            </a:extLst>
          </p:cNvPr>
          <p:cNvSpPr txBox="1"/>
          <p:nvPr/>
        </p:nvSpPr>
        <p:spPr>
          <a:xfrm>
            <a:off x="182880" y="173736"/>
            <a:ext cx="11027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atin typeface="Arial" panose="020B0604020202020204" pitchFamily="34" charset="0"/>
                <a:cs typeface="Arial" panose="020B0604020202020204" pitchFamily="34" charset="0"/>
              </a:rPr>
              <a:t>Strumenti di Analisi PGTU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4FCE7B7-01A4-BDEA-09CA-B4C19F8AD26F}"/>
              </a:ext>
            </a:extLst>
          </p:cNvPr>
          <p:cNvSpPr txBox="1"/>
          <p:nvPr/>
        </p:nvSpPr>
        <p:spPr>
          <a:xfrm>
            <a:off x="308228" y="582066"/>
            <a:ext cx="7639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i="1" dirty="0"/>
              <a:t>Matching archi TomTom – linee ATAC</a:t>
            </a:r>
            <a:endParaRPr lang="it-IT" i="1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D1F88E9-6380-24D7-88F1-6E662617CE21}"/>
              </a:ext>
            </a:extLst>
          </p:cNvPr>
          <p:cNvSpPr txBox="1"/>
          <p:nvPr/>
        </p:nvSpPr>
        <p:spPr>
          <a:xfrm>
            <a:off x="363886" y="1030965"/>
            <a:ext cx="1161872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200" dirty="0"/>
              <a:t>Dal dataset iniziale (94.223 record), sono stati analizzati 71.711 archi TomTom con flussi &gt;1000 veicoli/giorno e lunghezza ≥5 m, ossia quelli rilevanti per la verifica di copertura TPL.</a:t>
            </a:r>
          </a:p>
          <a:p>
            <a:pPr>
              <a:buNone/>
            </a:pPr>
            <a:endParaRPr lang="it-IT" sz="1200" dirty="0"/>
          </a:p>
          <a:p>
            <a:pPr>
              <a:buNone/>
            </a:pPr>
            <a:r>
              <a:rPr lang="it-IT" sz="1200" b="1" dirty="0"/>
              <a:t>Copertura ATAC sui tratti TomTom ad alto flusso</a:t>
            </a:r>
            <a:endParaRPr lang="it-IT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/>
              <a:t>Archi TomTom analizzati: </a:t>
            </a:r>
            <a:r>
              <a:rPr lang="it-IT" sz="1200" b="1" dirty="0"/>
              <a:t>71.711</a:t>
            </a:r>
            <a:endParaRPr lang="it-IT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/>
              <a:t>Associati a una linea ATAC: </a:t>
            </a:r>
            <a:r>
              <a:rPr lang="it-IT" sz="1200" b="1" dirty="0"/>
              <a:t>51.040 (71,2%)</a:t>
            </a:r>
            <a:endParaRPr lang="it-IT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/>
              <a:t>Non associati: </a:t>
            </a:r>
            <a:r>
              <a:rPr lang="it-IT" sz="1200" b="1" dirty="0"/>
              <a:t>20.671 (28,8%)</a:t>
            </a:r>
            <a:endParaRPr lang="it-IT" sz="1200" dirty="0"/>
          </a:p>
          <a:p>
            <a:pPr>
              <a:buNone/>
            </a:pPr>
            <a:r>
              <a:rPr lang="it-IT" sz="1200" dirty="0"/>
              <a:t>Le statistiche di </a:t>
            </a:r>
            <a:r>
              <a:rPr lang="it-IT" sz="1200" dirty="0" err="1"/>
              <a:t>overlap</a:t>
            </a:r>
            <a:r>
              <a:rPr lang="it-IT" sz="1200" dirty="0"/>
              <a:t> mostrano una copertura forte per gli archi associati: la mediana di </a:t>
            </a:r>
            <a:r>
              <a:rPr lang="it-IT" sz="1200" dirty="0">
                <a:latin typeface="Courier New" panose="02070309020205020404" pitchFamily="49" charset="0"/>
              </a:rPr>
              <a:t>overlap_pct_atac30m</a:t>
            </a:r>
            <a:r>
              <a:rPr lang="it-IT" sz="1200" dirty="0"/>
              <a:t> è pari al 100%, con valori elevati soprattutto sulle infrastrutture ad alta domanda.</a:t>
            </a:r>
          </a:p>
          <a:p>
            <a:pPr>
              <a:buNone/>
            </a:pPr>
            <a:endParaRPr lang="it-IT" sz="1200" dirty="0"/>
          </a:p>
          <a:p>
            <a:pPr>
              <a:buNone/>
            </a:pPr>
            <a:r>
              <a:rPr lang="it-IT" sz="1200" b="1" dirty="0"/>
              <a:t>Confronto con classificazione TPL (IS_TPL)</a:t>
            </a:r>
            <a:endParaRPr lang="it-IT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/>
              <a:t>Archi TPL (IS_TPL=1) sopra soglia: </a:t>
            </a:r>
            <a:r>
              <a:rPr lang="it-IT" sz="1200" b="1" dirty="0"/>
              <a:t>38.290</a:t>
            </a:r>
            <a:endParaRPr lang="it-IT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/>
              <a:t>Di questi, risultano associati a una linea ATAC: </a:t>
            </a:r>
            <a:r>
              <a:rPr lang="it-IT" sz="1200" b="1" dirty="0"/>
              <a:t>34.521 (90,2%)</a:t>
            </a:r>
            <a:endParaRPr lang="it-IT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/>
              <a:t>Il restante 9,8% rappresenta segmenti TPL che non rientrano nel buffer ATAC o potenziali mismatch geometrici.</a:t>
            </a:r>
          </a:p>
          <a:p>
            <a:pPr>
              <a:buFont typeface="Arial" panose="020B0604020202020204" pitchFamily="34" charset="0"/>
              <a:buChar char="•"/>
            </a:pPr>
            <a:endParaRPr lang="it-IT" sz="1200" dirty="0"/>
          </a:p>
          <a:p>
            <a:pPr>
              <a:buNone/>
            </a:pPr>
            <a:r>
              <a:rPr lang="it-IT" sz="1200" b="1" dirty="0"/>
              <a:t>Ruolo degli archi PGTU (</a:t>
            </a:r>
            <a:r>
              <a:rPr lang="it-IT" sz="1200" b="1" dirty="0" err="1"/>
              <a:t>Is_PGTU</a:t>
            </a:r>
            <a:r>
              <a:rPr lang="it-IT" sz="1200" b="1" dirty="0"/>
              <a:t>=1)</a:t>
            </a:r>
            <a:br>
              <a:rPr lang="it-IT" sz="1200" dirty="0"/>
            </a:br>
            <a:r>
              <a:rPr lang="it-IT" sz="1200" dirty="0"/>
              <a:t>Nel sottoinsieme degli archi coerenti con il PGTU (42.786 elementi):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/>
              <a:t>L’</a:t>
            </a:r>
            <a:r>
              <a:rPr lang="it-IT" sz="1200" b="1" dirty="0"/>
              <a:t>80,7%</a:t>
            </a:r>
            <a:r>
              <a:rPr lang="it-IT" sz="1200" dirty="0"/>
              <a:t> dei segmenti TPL risulta correttamente coperto dal TPL ATAC.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/>
              <a:t>Le discrepanze residue riguardano principalmente tratti secondari o con geometrie complesse.</a:t>
            </a:r>
          </a:p>
          <a:p>
            <a:pPr>
              <a:buNone/>
            </a:pPr>
            <a:r>
              <a:rPr lang="it-IT" sz="1200" b="1" dirty="0"/>
              <a:t>Analisi per classe (TPL × </a:t>
            </a:r>
            <a:r>
              <a:rPr lang="it-IT" sz="1200" b="1" dirty="0" err="1"/>
              <a:t>ATAC_intersect</a:t>
            </a:r>
            <a:r>
              <a:rPr lang="it-IT" sz="1200" b="1" dirty="0"/>
              <a:t>)</a:t>
            </a:r>
            <a:endParaRPr lang="it-IT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/>
              <a:t>Gli archi </a:t>
            </a:r>
            <a:r>
              <a:rPr lang="it-IT" sz="1200" b="1" dirty="0"/>
              <a:t>associati ad ATAC</a:t>
            </a:r>
            <a:r>
              <a:rPr lang="it-IT" sz="1200" dirty="0"/>
              <a:t> presentano valori di </a:t>
            </a:r>
            <a:r>
              <a:rPr lang="it-IT" sz="1200" dirty="0" err="1"/>
              <a:t>overlap</a:t>
            </a:r>
            <a:r>
              <a:rPr lang="it-IT" sz="1200" dirty="0"/>
              <a:t> molto elevati (media 0,97–0,99).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/>
              <a:t>Gli archi </a:t>
            </a:r>
            <a:r>
              <a:rPr lang="it-IT" sz="1200" b="1" dirty="0"/>
              <a:t>non associati</a:t>
            </a:r>
            <a:r>
              <a:rPr lang="it-IT" sz="1200" dirty="0"/>
              <a:t> mostrano </a:t>
            </a:r>
            <a:r>
              <a:rPr lang="it-IT" sz="1200" dirty="0" err="1"/>
              <a:t>overlap</a:t>
            </a:r>
            <a:r>
              <a:rPr lang="it-IT" sz="1200" dirty="0"/>
              <a:t> nullo, confermando la robustezza del criterio di selezione.</a:t>
            </a:r>
          </a:p>
          <a:p>
            <a:pPr>
              <a:buNone/>
            </a:pPr>
            <a:r>
              <a:rPr lang="it-IT" sz="1200" b="1" dirty="0"/>
              <a:t>Output cartografici prodotti</a:t>
            </a:r>
            <a:endParaRPr lang="it-IT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/>
              <a:t>Mappa A: archi TomTom associati vs non associati alla rete ATAC.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/>
              <a:t>Mappa B: archi TPL (IS_TPL=1) non coperti da ATAC.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/>
              <a:t>Mappa C: archi non TPL (IS_TPL=0) che risultano invece coperti da ATAC.</a:t>
            </a:r>
          </a:p>
          <a:p>
            <a:pPr>
              <a:buNone/>
            </a:pPr>
            <a:r>
              <a:rPr lang="it-IT" sz="1200" dirty="0"/>
              <a:t>Queste visualizzazioni permettono di individuare in modo diretto possibili incongruenze tra classificazione TPL, geometrie TomTom e rete ATAC, fornendo una base solida per approfondimenti e verifiche localizzate.</a:t>
            </a:r>
          </a:p>
        </p:txBody>
      </p:sp>
    </p:spTree>
    <p:extLst>
      <p:ext uri="{BB962C8B-B14F-4D97-AF65-F5344CB8AC3E}">
        <p14:creationId xmlns:p14="http://schemas.microsoft.com/office/powerpoint/2010/main" val="3404334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05906-9F15-5A90-08F6-7629F48FE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8B6D96A4-ADF8-2F05-3127-5FEDEF237F57}"/>
              </a:ext>
            </a:extLst>
          </p:cNvPr>
          <p:cNvSpPr txBox="1"/>
          <p:nvPr/>
        </p:nvSpPr>
        <p:spPr>
          <a:xfrm>
            <a:off x="182880" y="173736"/>
            <a:ext cx="11027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atin typeface="Arial" panose="020B0604020202020204" pitchFamily="34" charset="0"/>
                <a:cs typeface="Arial" panose="020B0604020202020204" pitchFamily="34" charset="0"/>
              </a:rPr>
              <a:t>Strumenti di Analisi PGTU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C39016C-7E3E-1B47-69BA-7B8A38D3797F}"/>
              </a:ext>
            </a:extLst>
          </p:cNvPr>
          <p:cNvSpPr txBox="1"/>
          <p:nvPr/>
        </p:nvSpPr>
        <p:spPr>
          <a:xfrm>
            <a:off x="308228" y="582066"/>
            <a:ext cx="7639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i="1" dirty="0"/>
              <a:t>Matching archi TomTom – Grande Viabilità </a:t>
            </a:r>
            <a:endParaRPr lang="it-IT" i="1" dirty="0"/>
          </a:p>
        </p:txBody>
      </p:sp>
      <p:pic>
        <p:nvPicPr>
          <p:cNvPr id="8" name="Immagine 7" descr="Immagine che contiene mappa&#10;&#10;Il contenuto generato dall'IA potrebbe non essere corretto.">
            <a:extLst>
              <a:ext uri="{FF2B5EF4-FFF2-40B4-BE49-F238E27FC236}">
                <a16:creationId xmlns:a16="http://schemas.microsoft.com/office/drawing/2014/main" id="{E50D2254-BCA4-602C-E88D-A085D36CAC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5361" y="173736"/>
            <a:ext cx="6676639" cy="6676639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63C586F-12D7-0A96-641C-CF00E50C6A23}"/>
              </a:ext>
            </a:extLst>
          </p:cNvPr>
          <p:cNvSpPr txBox="1"/>
          <p:nvPr/>
        </p:nvSpPr>
        <p:spPr>
          <a:xfrm>
            <a:off x="437010" y="942254"/>
            <a:ext cx="5272027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it-IT" sz="1200" dirty="0"/>
              <a:t>È stato applicato lo stesso schema di matching geometrico usato per ATAC e </a:t>
            </a:r>
            <a:r>
              <a:rPr lang="it-IT" sz="1200" dirty="0" err="1"/>
              <a:t>PGTUm</a:t>
            </a:r>
            <a:r>
              <a:rPr lang="it-IT" sz="1200" dirty="0"/>
              <a:t> attorno alla rete di Grande Viabilità 2019, </a:t>
            </a:r>
            <a:r>
              <a:rPr lang="it-IT" sz="1200" dirty="0" err="1"/>
              <a:t>overlap</a:t>
            </a:r>
            <a:r>
              <a:rPr lang="it-IT" sz="1200" dirty="0"/>
              <a:t> minimo 3 m, soglia di copertura sul singolo arco TomTom ≥ 60% e coerenza angolare locale Δ≤45°.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/>
              <a:t>Il matching è stato eseguito sugli archi TomTom del Database con </a:t>
            </a:r>
            <a:r>
              <a:rPr lang="it-IT" sz="1200" b="1" dirty="0"/>
              <a:t>Flussi Giornalieri &gt; 1.000 veicoli/giorno</a:t>
            </a:r>
            <a:r>
              <a:rPr lang="it-IT" sz="1200" dirty="0"/>
              <a:t> e lunghezza </a:t>
            </a:r>
            <a:r>
              <a:rPr lang="it-IT" sz="1200" b="1" dirty="0"/>
              <a:t>≥ 5 m</a:t>
            </a:r>
            <a:r>
              <a:rPr lang="it-IT" sz="1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200" dirty="0"/>
              <a:t>Archi TT con geometria valida nel Database: </a:t>
            </a:r>
            <a:r>
              <a:rPr lang="it-IT" sz="1200" b="1" dirty="0"/>
              <a:t>94.148</a:t>
            </a:r>
            <a:endParaRPr lang="it-IT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200" dirty="0"/>
              <a:t>Archi TT usati per il match GV (sopra soglia): </a:t>
            </a:r>
            <a:r>
              <a:rPr lang="it-IT" sz="1200" b="1" dirty="0"/>
              <a:t>71.711</a:t>
            </a:r>
            <a:endParaRPr lang="it-IT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/>
              <a:t>Il risultato è stato riportato su </a:t>
            </a:r>
            <a:r>
              <a:rPr lang="it-IT" sz="1200" b="1" dirty="0"/>
              <a:t>tutto il Database</a:t>
            </a:r>
            <a:r>
              <a:rPr lang="it-IT" sz="1200" dirty="0"/>
              <a:t> tramite una nuova colonna binaria </a:t>
            </a:r>
            <a:r>
              <a:rPr lang="it-IT" sz="1200" b="1" dirty="0" err="1">
                <a:latin typeface="Courier New" panose="02070309020205020404" pitchFamily="49" charset="0"/>
              </a:rPr>
              <a:t>Is_GrandeViabilita</a:t>
            </a:r>
            <a:r>
              <a:rPr lang="it-IT" sz="1200" dirty="0"/>
              <a:t> (1 = arco TomTom compatibile con la Grande Viabilità 2019, 0 = non compatibile).</a:t>
            </a:r>
            <a:br>
              <a:rPr lang="it-IT" sz="1200" dirty="0"/>
            </a:br>
            <a:r>
              <a:rPr lang="it-IT" sz="1200" dirty="0"/>
              <a:t>A livello di Database completo: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200" b="1" dirty="0"/>
              <a:t>26.237 archi</a:t>
            </a:r>
            <a:r>
              <a:rPr lang="it-IT" sz="1200" dirty="0"/>
              <a:t> con </a:t>
            </a:r>
            <a:r>
              <a:rPr lang="it-IT" sz="1200" dirty="0" err="1">
                <a:latin typeface="Courier New" panose="02070309020205020404" pitchFamily="49" charset="0"/>
              </a:rPr>
              <a:t>Is_GrandeViabilita</a:t>
            </a:r>
            <a:r>
              <a:rPr lang="it-IT" sz="1200" dirty="0">
                <a:latin typeface="Courier New" panose="02070309020205020404" pitchFamily="49" charset="0"/>
              </a:rPr>
              <a:t> = 1</a:t>
            </a:r>
            <a:endParaRPr lang="it-IT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200" b="1" dirty="0"/>
              <a:t>67.986 archi</a:t>
            </a:r>
            <a:r>
              <a:rPr lang="it-IT" sz="1200" dirty="0"/>
              <a:t> con </a:t>
            </a:r>
            <a:r>
              <a:rPr lang="it-IT" sz="1200" dirty="0" err="1">
                <a:latin typeface="Courier New" panose="02070309020205020404" pitchFamily="49" charset="0"/>
              </a:rPr>
              <a:t>Is_GrandeViabilita</a:t>
            </a:r>
            <a:r>
              <a:rPr lang="it-IT" sz="1200" dirty="0">
                <a:latin typeface="Courier New" panose="02070309020205020404" pitchFamily="49" charset="0"/>
              </a:rPr>
              <a:t> = 0</a:t>
            </a:r>
            <a:endParaRPr lang="it-IT" sz="1200" dirty="0"/>
          </a:p>
          <a:p>
            <a:pPr>
              <a:buNone/>
            </a:pPr>
            <a:br>
              <a:rPr lang="it-IT" sz="1200" dirty="0"/>
            </a:br>
            <a:endParaRPr lang="it-IT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/>
              <a:t>Sono state prodotte: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200" dirty="0"/>
              <a:t>una </a:t>
            </a:r>
            <a:r>
              <a:rPr lang="it-IT" sz="1200" b="1" dirty="0"/>
              <a:t>mappa di confronto</a:t>
            </a:r>
            <a:r>
              <a:rPr lang="it-IT" sz="1200" dirty="0"/>
              <a:t> tra archi TomTom associati / non associati alla Grande Viabilità;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200" dirty="0"/>
              <a:t>una </a:t>
            </a:r>
            <a:r>
              <a:rPr lang="it-IT" sz="1200" b="1" dirty="0"/>
              <a:t>mappa dei disallineamenti</a:t>
            </a:r>
            <a:r>
              <a:rPr lang="it-IT" sz="1200" dirty="0"/>
              <a:t> tra </a:t>
            </a:r>
            <a:r>
              <a:rPr lang="it-IT" sz="1200" dirty="0">
                <a:latin typeface="Courier New" panose="02070309020205020404" pitchFamily="49" charset="0"/>
              </a:rPr>
              <a:t>IS_GV</a:t>
            </a:r>
            <a:r>
              <a:rPr lang="it-IT" sz="1200" dirty="0"/>
              <a:t> e </a:t>
            </a:r>
            <a:r>
              <a:rPr lang="it-IT" sz="1200" dirty="0" err="1">
                <a:latin typeface="Courier New" panose="02070309020205020404" pitchFamily="49" charset="0"/>
              </a:rPr>
              <a:t>Is_GrandeViabilita</a:t>
            </a:r>
            <a:r>
              <a:rPr lang="it-IT" sz="1200" dirty="0"/>
              <a:t>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200" dirty="0"/>
              <a:t>due </a:t>
            </a:r>
            <a:r>
              <a:rPr lang="it-IT" sz="1200" dirty="0" err="1"/>
              <a:t>shapefile</a:t>
            </a:r>
            <a:r>
              <a:rPr lang="it-IT" sz="1200" dirty="0"/>
              <a:t> di </a:t>
            </a:r>
            <a:r>
              <a:rPr lang="it-IT" sz="1200" b="1" dirty="0"/>
              <a:t>hotspot</a:t>
            </a:r>
            <a:r>
              <a:rPr lang="it-IT" sz="1200" dirty="0"/>
              <a:t> per l’ispezione in GIS degli archi con flag discordanti.</a:t>
            </a:r>
          </a:p>
        </p:txBody>
      </p:sp>
    </p:spTree>
    <p:extLst>
      <p:ext uri="{BB962C8B-B14F-4D97-AF65-F5344CB8AC3E}">
        <p14:creationId xmlns:p14="http://schemas.microsoft.com/office/powerpoint/2010/main" val="806826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E0F8FA81-3994-98C9-7477-BC4F13D78BB1}"/>
              </a:ext>
            </a:extLst>
          </p:cNvPr>
          <p:cNvSpPr txBox="1"/>
          <p:nvPr/>
        </p:nvSpPr>
        <p:spPr>
          <a:xfrm>
            <a:off x="154877" y="158346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i="1" dirty="0"/>
              <a:t>Dati di rete e impostazione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672DE50-6F7A-B802-1F52-7D8822126084}"/>
              </a:ext>
            </a:extLst>
          </p:cNvPr>
          <p:cNvSpPr txBox="1"/>
          <p:nvPr/>
        </p:nvSpPr>
        <p:spPr>
          <a:xfrm>
            <a:off x="308229" y="1105286"/>
            <a:ext cx="609467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Numero archi: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/>
              <a:t>Rete TomTom: </a:t>
            </a:r>
            <a:r>
              <a:rPr lang="it-IT" sz="1400" b="1" dirty="0"/>
              <a:t>94.148 archi</a:t>
            </a:r>
            <a:r>
              <a:rPr lang="it-IT" sz="14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/>
              <a:t>Rete PGTU: </a:t>
            </a:r>
            <a:r>
              <a:rPr lang="it-IT" sz="1400" b="1" dirty="0"/>
              <a:t>1.301 archi</a:t>
            </a:r>
            <a:r>
              <a:rPr lang="it-IT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Sistema di riferimento: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/>
              <a:t>TomTom: </a:t>
            </a:r>
            <a:r>
              <a:rPr lang="it-IT" sz="1400" b="1" dirty="0"/>
              <a:t>EPSG:3004</a:t>
            </a:r>
            <a:endParaRPr lang="it-IT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/>
              <a:t>PGTU: </a:t>
            </a:r>
            <a:r>
              <a:rPr lang="it-IT" sz="1400" b="1" dirty="0"/>
              <a:t>EPSG:3004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8C40421-D32B-AB86-2BD2-6D57163BE1FA}"/>
              </a:ext>
            </a:extLst>
          </p:cNvPr>
          <p:cNvSpPr txBox="1"/>
          <p:nvPr/>
        </p:nvSpPr>
        <p:spPr>
          <a:xfrm>
            <a:off x="634233" y="2490281"/>
            <a:ext cx="2821885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400" b="1" dirty="0"/>
              <a:t>Distribuzione per classi di flusso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>
                <a:latin typeface="Courier New" panose="02070309020205020404" pitchFamily="49" charset="0"/>
              </a:rPr>
              <a:t>&lt;1.000</a:t>
            </a:r>
            <a:r>
              <a:rPr lang="it-IT" sz="1200" dirty="0"/>
              <a:t>: </a:t>
            </a:r>
            <a:r>
              <a:rPr lang="it-IT" sz="1200" b="1" dirty="0"/>
              <a:t>21.551 archi</a:t>
            </a:r>
            <a:endParaRPr lang="it-IT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>
                <a:latin typeface="Courier New" panose="02070309020205020404" pitchFamily="49" charset="0"/>
              </a:rPr>
              <a:t>1.000–5.000</a:t>
            </a:r>
            <a:r>
              <a:rPr lang="it-IT" sz="1200" dirty="0"/>
              <a:t>: </a:t>
            </a:r>
            <a:r>
              <a:rPr lang="it-IT" sz="1200" b="1" dirty="0"/>
              <a:t>27.824 archi</a:t>
            </a:r>
            <a:endParaRPr lang="it-IT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>
                <a:latin typeface="Courier New" panose="02070309020205020404" pitchFamily="49" charset="0"/>
              </a:rPr>
              <a:t>5.000–6.000</a:t>
            </a:r>
            <a:r>
              <a:rPr lang="it-IT" sz="1200" dirty="0"/>
              <a:t>: </a:t>
            </a:r>
            <a:r>
              <a:rPr lang="it-IT" sz="1200" b="1" dirty="0"/>
              <a:t>4.640 archi</a:t>
            </a:r>
            <a:endParaRPr lang="it-IT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>
                <a:latin typeface="Courier New" panose="02070309020205020404" pitchFamily="49" charset="0"/>
              </a:rPr>
              <a:t>6.000–7.000</a:t>
            </a:r>
            <a:r>
              <a:rPr lang="it-IT" sz="1200" dirty="0"/>
              <a:t>: </a:t>
            </a:r>
            <a:r>
              <a:rPr lang="it-IT" sz="1200" b="1" dirty="0"/>
              <a:t>4.030 archi</a:t>
            </a:r>
            <a:endParaRPr lang="it-IT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>
                <a:latin typeface="Courier New" panose="02070309020205020404" pitchFamily="49" charset="0"/>
              </a:rPr>
              <a:t>7.000–8.000</a:t>
            </a:r>
            <a:r>
              <a:rPr lang="it-IT" sz="1200" dirty="0"/>
              <a:t>: </a:t>
            </a:r>
            <a:r>
              <a:rPr lang="it-IT" sz="1200" b="1" dirty="0"/>
              <a:t>3.778 archi</a:t>
            </a:r>
            <a:endParaRPr lang="it-IT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>
                <a:latin typeface="Courier New" panose="02070309020205020404" pitchFamily="49" charset="0"/>
              </a:rPr>
              <a:t>8.000–9.000</a:t>
            </a:r>
            <a:r>
              <a:rPr lang="it-IT" sz="1200" dirty="0"/>
              <a:t>: </a:t>
            </a:r>
            <a:r>
              <a:rPr lang="it-IT" sz="1200" b="1" dirty="0"/>
              <a:t>3.102 archi</a:t>
            </a:r>
            <a:endParaRPr lang="it-IT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>
                <a:latin typeface="Courier New" panose="02070309020205020404" pitchFamily="49" charset="0"/>
              </a:rPr>
              <a:t>9.000–10.000</a:t>
            </a:r>
            <a:r>
              <a:rPr lang="it-IT" sz="1200" dirty="0"/>
              <a:t>: </a:t>
            </a:r>
            <a:r>
              <a:rPr lang="it-IT" sz="1200" b="1" dirty="0"/>
              <a:t>2.628 archi</a:t>
            </a:r>
            <a:endParaRPr lang="it-IT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>
                <a:latin typeface="Courier New" panose="02070309020205020404" pitchFamily="49" charset="0"/>
              </a:rPr>
              <a:t>10.000–15.000</a:t>
            </a:r>
            <a:r>
              <a:rPr lang="it-IT" sz="1200" dirty="0"/>
              <a:t>: </a:t>
            </a:r>
            <a:r>
              <a:rPr lang="it-IT" sz="1200" b="1" dirty="0"/>
              <a:t>9.688 archi</a:t>
            </a:r>
            <a:endParaRPr lang="it-IT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>
                <a:latin typeface="Courier New" panose="02070309020205020404" pitchFamily="49" charset="0"/>
              </a:rPr>
              <a:t>15.000–20.000</a:t>
            </a:r>
            <a:r>
              <a:rPr lang="it-IT" sz="1200" dirty="0"/>
              <a:t>: </a:t>
            </a:r>
            <a:r>
              <a:rPr lang="it-IT" sz="1200" b="1" dirty="0"/>
              <a:t>5.460 archi</a:t>
            </a:r>
            <a:endParaRPr lang="it-IT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>
                <a:latin typeface="Courier New" panose="02070309020205020404" pitchFamily="49" charset="0"/>
              </a:rPr>
              <a:t>&gt;20.000</a:t>
            </a:r>
            <a:r>
              <a:rPr lang="it-IT" sz="1200" dirty="0"/>
              <a:t>: </a:t>
            </a:r>
            <a:r>
              <a:rPr lang="it-IT" sz="1200" b="1" dirty="0"/>
              <a:t>11.447 archi</a:t>
            </a:r>
          </a:p>
        </p:txBody>
      </p:sp>
      <p:pic>
        <p:nvPicPr>
          <p:cNvPr id="10" name="Immagine 9" descr="Immagine che contiene schermata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1D287A99-0BBC-8D8B-EF13-BBB4BBA640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29" y="4905954"/>
            <a:ext cx="3147889" cy="186902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FA9FF72-359F-FA8F-A0A0-79BF9FF0BC87}"/>
              </a:ext>
            </a:extLst>
          </p:cNvPr>
          <p:cNvSpPr txBox="1"/>
          <p:nvPr/>
        </p:nvSpPr>
        <p:spPr>
          <a:xfrm>
            <a:off x="6096000" y="266068"/>
            <a:ext cx="609467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400" b="1" dirty="0"/>
              <a:t>Selezione archi ad alto flusso</a:t>
            </a:r>
            <a:endParaRPr lang="it-IT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Soglia definita: </a:t>
            </a:r>
            <a:r>
              <a:rPr lang="it-IT" sz="1400" b="1" dirty="0"/>
              <a:t>5.000 veicoli/giorno</a:t>
            </a:r>
            <a:r>
              <a:rPr lang="it-IT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400" dirty="0"/>
              <a:t>Risultati: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/>
              <a:t>Archi con VEIC_DAY_TOT ≥ 5.000: </a:t>
            </a:r>
            <a:r>
              <a:rPr lang="it-IT" sz="1400" b="1" dirty="0"/>
              <a:t>44.773</a:t>
            </a:r>
            <a:endParaRPr lang="it-IT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/>
              <a:t>Archi con VEIC_DAY_TOT &lt; 5.000: </a:t>
            </a:r>
            <a:r>
              <a:rPr lang="it-IT" sz="1400" b="1" dirty="0"/>
              <a:t>49.375</a:t>
            </a:r>
            <a:endParaRPr lang="it-IT" dirty="0"/>
          </a:p>
        </p:txBody>
      </p:sp>
      <p:pic>
        <p:nvPicPr>
          <p:cNvPr id="13" name="Immagine 12" descr="Immagine che contiene testo, schermata, fuochi d'artificio&#10;&#10;Il contenuto generato dall'IA potrebbe non essere corretto.">
            <a:extLst>
              <a:ext uri="{FF2B5EF4-FFF2-40B4-BE49-F238E27FC236}">
                <a16:creationId xmlns:a16="http://schemas.microsoft.com/office/drawing/2014/main" id="{0E79EF4B-2821-FA96-9427-680E409805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90"/>
          <a:stretch>
            <a:fillRect/>
          </a:stretch>
        </p:blipFill>
        <p:spPr>
          <a:xfrm>
            <a:off x="5932787" y="1435619"/>
            <a:ext cx="5471299" cy="515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266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80357-E848-F5B0-FAF5-D5084BDB1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F0E0C0A5-F535-1E30-BA44-B1608A850772}"/>
              </a:ext>
            </a:extLst>
          </p:cNvPr>
          <p:cNvSpPr txBox="1"/>
          <p:nvPr/>
        </p:nvSpPr>
        <p:spPr>
          <a:xfrm>
            <a:off x="128504" y="249168"/>
            <a:ext cx="91433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2400" b="1" i="1" dirty="0"/>
              <a:t>Processo di Match Lineare tra Archi TomTom e Segmenti PGTU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D80DD6D-D757-B5D8-67B4-5889A3D2A904}"/>
              </a:ext>
            </a:extLst>
          </p:cNvPr>
          <p:cNvSpPr txBox="1"/>
          <p:nvPr/>
        </p:nvSpPr>
        <p:spPr>
          <a:xfrm>
            <a:off x="394038" y="1027853"/>
            <a:ext cx="609734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200" b="1" dirty="0"/>
              <a:t>1. Preselezione archi TomTom</a:t>
            </a:r>
          </a:p>
          <a:p>
            <a:pPr>
              <a:buNone/>
            </a:pPr>
            <a:r>
              <a:rPr lang="it-IT" sz="1200" dirty="0"/>
              <a:t>Si filtrano solo gli archi rilevanti: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b="1" i="1" dirty="0"/>
              <a:t>Flusso &gt; 1.000 </a:t>
            </a:r>
            <a:r>
              <a:rPr lang="it-IT" sz="1200" b="1" i="1" dirty="0" err="1"/>
              <a:t>veic</a:t>
            </a:r>
            <a:r>
              <a:rPr lang="it-IT" sz="1200" b="1" i="1" dirty="0"/>
              <a:t>/giorno</a:t>
            </a:r>
            <a:endParaRPr lang="it-IT" sz="1200" i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b="1" i="1" dirty="0"/>
              <a:t>Lunghezza ≥ 5 m</a:t>
            </a:r>
          </a:p>
          <a:p>
            <a:br>
              <a:rPr lang="it-IT" sz="1200" dirty="0"/>
            </a:br>
            <a:r>
              <a:rPr lang="it-IT" sz="1200" b="1" dirty="0"/>
              <a:t>2. Preparazione rete PGTU</a:t>
            </a:r>
          </a:p>
          <a:p>
            <a:r>
              <a:rPr lang="it-IT" sz="1200" dirty="0"/>
              <a:t>Creazione di un </a:t>
            </a:r>
            <a:r>
              <a:rPr lang="it-IT" sz="1200" b="1" dirty="0"/>
              <a:t>buffer di 30 m</a:t>
            </a:r>
            <a:r>
              <a:rPr lang="it-IT" sz="1200" dirty="0"/>
              <a:t> per individuare possibili corrispondenze spaziali</a:t>
            </a:r>
            <a:br>
              <a:rPr lang="it-IT" sz="1200" dirty="0"/>
            </a:br>
            <a:endParaRPr lang="it-IT" sz="1200" dirty="0"/>
          </a:p>
          <a:p>
            <a:pPr>
              <a:buNone/>
            </a:pPr>
            <a:r>
              <a:rPr lang="it-IT" sz="1200" b="1" dirty="0"/>
              <a:t>3. </a:t>
            </a:r>
            <a:r>
              <a:rPr lang="it-IT" sz="1200" b="1" dirty="0" err="1"/>
              <a:t>Spatial</a:t>
            </a:r>
            <a:r>
              <a:rPr lang="it-IT" sz="1200" b="1" dirty="0"/>
              <a:t> Join </a:t>
            </a:r>
          </a:p>
          <a:p>
            <a:pPr>
              <a:buNone/>
            </a:pPr>
            <a:r>
              <a:rPr lang="it-IT" sz="1200" dirty="0"/>
              <a:t>Gli archi TomTom selezionati vengono intersecati con il buffer PGTU → si ottengono tutte le coppie </a:t>
            </a:r>
            <a:r>
              <a:rPr lang="it-IT" sz="1200" b="1" dirty="0"/>
              <a:t>TT–PGTU candidate</a:t>
            </a:r>
            <a:endParaRPr lang="it-IT" sz="1200" dirty="0"/>
          </a:p>
          <a:p>
            <a:pPr>
              <a:buNone/>
            </a:pPr>
            <a:endParaRPr lang="it-IT" sz="1200" dirty="0"/>
          </a:p>
          <a:p>
            <a:pPr>
              <a:buNone/>
            </a:pPr>
            <a:r>
              <a:rPr lang="it-IT" sz="1200" b="1" dirty="0"/>
              <a:t>4. Calcolo sovrapposizione</a:t>
            </a:r>
          </a:p>
          <a:p>
            <a:pPr>
              <a:buNone/>
            </a:pPr>
            <a:r>
              <a:rPr lang="it-IT" sz="1200" dirty="0"/>
              <a:t>Per ogni coppia si calcolano: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dirty="0"/>
              <a:t>lunghezza di sovrapposizione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dirty="0"/>
              <a:t>% di copertura dell’arco TT</a:t>
            </a:r>
          </a:p>
          <a:p>
            <a:pPr>
              <a:buNone/>
            </a:pPr>
            <a:r>
              <a:rPr lang="it-IT" sz="1200" dirty="0"/>
              <a:t>Criteri minimi: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b="1" dirty="0"/>
              <a:t>Sovrapposizione ≥ 3 m</a:t>
            </a:r>
            <a:endParaRPr lang="it-IT" sz="12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b="1" dirty="0"/>
              <a:t>Copertura TT ≥ 50%</a:t>
            </a:r>
            <a:endParaRPr lang="it-IT" sz="1200" dirty="0"/>
          </a:p>
          <a:p>
            <a:pPr>
              <a:buNone/>
            </a:pPr>
            <a:endParaRPr lang="it-IT" sz="1200" dirty="0"/>
          </a:p>
          <a:p>
            <a:pPr>
              <a:buNone/>
            </a:pPr>
            <a:r>
              <a:rPr lang="it-IT" sz="1200" b="1" dirty="0"/>
              <a:t>5. Vincolo angolare</a:t>
            </a:r>
          </a:p>
          <a:p>
            <a:pPr>
              <a:buNone/>
            </a:pPr>
            <a:r>
              <a:rPr lang="it-IT" sz="1200" dirty="0"/>
              <a:t>Calcolo dell’angolo locale tra direzioni TT e PGTU.</a:t>
            </a:r>
            <a:br>
              <a:rPr lang="it-IT" sz="1200" dirty="0"/>
            </a:br>
            <a:r>
              <a:rPr lang="it-IT" sz="1200" dirty="0"/>
              <a:t>Match valido solo se: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b="1" dirty="0" err="1"/>
              <a:t>Δangolo</a:t>
            </a:r>
            <a:r>
              <a:rPr lang="it-IT" sz="1200" b="1" dirty="0"/>
              <a:t> ≤ 45°</a:t>
            </a:r>
          </a:p>
          <a:p>
            <a:pPr lvl="1"/>
            <a:r>
              <a:rPr lang="it-IT" sz="1200" dirty="0"/>
              <a:t>→ garantisce </a:t>
            </a:r>
            <a:r>
              <a:rPr lang="it-IT" sz="1200" dirty="0" err="1"/>
              <a:t>collinearità</a:t>
            </a:r>
            <a:r>
              <a:rPr lang="it-IT" sz="1200" dirty="0"/>
              <a:t> e coerenza direzionale.</a:t>
            </a:r>
          </a:p>
          <a:p>
            <a:pPr>
              <a:buNone/>
            </a:pPr>
            <a:endParaRPr lang="it-IT" sz="1200" dirty="0"/>
          </a:p>
          <a:p>
            <a:pPr>
              <a:buNone/>
            </a:pPr>
            <a:r>
              <a:rPr lang="it-IT" sz="1200" b="1" dirty="0"/>
              <a:t>6. Verifica toponomastica</a:t>
            </a:r>
          </a:p>
          <a:p>
            <a:pPr>
              <a:buNone/>
            </a:pPr>
            <a:r>
              <a:rPr lang="it-IT" sz="1200" dirty="0"/>
              <a:t>Controllo delle parole significative tra nome TT e toponomastica PGTU.</a:t>
            </a:r>
            <a:br>
              <a:rPr lang="it-IT" sz="1200" dirty="0"/>
            </a:br>
            <a:r>
              <a:rPr lang="it-IT" sz="1200" dirty="0"/>
              <a:t>Se il best match geometrico è semanticamente incoerente, viene sostituito da un candidato più compatibile.</a:t>
            </a:r>
          </a:p>
          <a:p>
            <a:pPr>
              <a:buNone/>
            </a:pPr>
            <a:br>
              <a:rPr lang="it-IT" sz="1200" dirty="0"/>
            </a:br>
            <a:endParaRPr lang="it-IT" sz="1200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5909CED-E55F-5EE0-FCCB-75589ADBA661}"/>
              </a:ext>
            </a:extLst>
          </p:cNvPr>
          <p:cNvSpPr txBox="1"/>
          <p:nvPr/>
        </p:nvSpPr>
        <p:spPr>
          <a:xfrm>
            <a:off x="7920691" y="808449"/>
            <a:ext cx="406773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200" b="1" dirty="0"/>
              <a:t>Risultati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/>
              <a:t>Archi TomTom totali: </a:t>
            </a:r>
            <a:r>
              <a:rPr lang="it-IT" sz="1200" b="1" dirty="0"/>
              <a:t>94.148</a:t>
            </a:r>
            <a:endParaRPr lang="it-IT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/>
              <a:t>Con flusso &gt;1.000 e lunghi ≥5 m (usati nel matching): </a:t>
            </a:r>
            <a:r>
              <a:rPr lang="it-IT" sz="1200" b="1" dirty="0"/>
              <a:t>71.711</a:t>
            </a:r>
            <a:endParaRPr lang="it-IT" sz="1200" dirty="0"/>
          </a:p>
          <a:p>
            <a:pPr>
              <a:buNone/>
            </a:pPr>
            <a:endParaRPr lang="it-IT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/>
              <a:t>Match accettati: </a:t>
            </a:r>
            <a:r>
              <a:rPr lang="it-IT" sz="1200" b="1" dirty="0"/>
              <a:t>42.786</a:t>
            </a:r>
            <a:r>
              <a:rPr lang="it-IT" sz="1200" dirty="0"/>
              <a:t> → </a:t>
            </a:r>
            <a:r>
              <a:rPr lang="it-IT" sz="1200" b="1" dirty="0"/>
              <a:t>59,7%</a:t>
            </a:r>
            <a:endParaRPr lang="it-IT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/>
              <a:t>Non </a:t>
            </a:r>
            <a:r>
              <a:rPr lang="it-IT" sz="1200" dirty="0" err="1"/>
              <a:t>matchati</a:t>
            </a:r>
            <a:r>
              <a:rPr lang="it-IT" sz="1200" dirty="0"/>
              <a:t>: </a:t>
            </a:r>
            <a:r>
              <a:rPr lang="it-IT" sz="1200" b="1" dirty="0"/>
              <a:t>28.925</a:t>
            </a:r>
            <a:r>
              <a:rPr lang="it-IT" sz="1200" dirty="0"/>
              <a:t> → </a:t>
            </a:r>
            <a:r>
              <a:rPr lang="it-IT" sz="1200" b="1" dirty="0"/>
              <a:t>40,3%</a:t>
            </a:r>
            <a:endParaRPr lang="it-IT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/>
              <a:t>Segmenti PGTU coperti: </a:t>
            </a:r>
            <a:r>
              <a:rPr lang="it-IT" sz="1200" b="1" dirty="0"/>
              <a:t>1.226</a:t>
            </a:r>
            <a:r>
              <a:rPr lang="it-IT" sz="1200" dirty="0"/>
              <a:t> su 1.301</a:t>
            </a:r>
            <a:br>
              <a:rPr lang="it-IT" sz="1200" dirty="0"/>
            </a:br>
            <a:r>
              <a:rPr lang="it-IT" sz="1200" dirty="0"/>
              <a:t>→ Copertura PGTU da TomTom </a:t>
            </a:r>
            <a:r>
              <a:rPr lang="it-IT" sz="1200" b="1" dirty="0"/>
              <a:t>≈ 95–96%</a:t>
            </a:r>
            <a:endParaRPr lang="it-IT" sz="1200" dirty="0"/>
          </a:p>
          <a:p>
            <a:pPr>
              <a:buNone/>
            </a:pPr>
            <a:endParaRPr lang="it-IT" sz="1200" dirty="0"/>
          </a:p>
        </p:txBody>
      </p:sp>
      <p:pic>
        <p:nvPicPr>
          <p:cNvPr id="14" name="Immagine 13" descr="Immagine che contiene schermata, arte&#10;&#10;Il contenuto generato dall'IA potrebbe non essere corretto.">
            <a:extLst>
              <a:ext uri="{FF2B5EF4-FFF2-40B4-BE49-F238E27FC236}">
                <a16:creationId xmlns:a16="http://schemas.microsoft.com/office/drawing/2014/main" id="{034AEDE5-5A7A-AF44-88BD-1300935D95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40"/>
          <a:stretch>
            <a:fillRect/>
          </a:stretch>
        </p:blipFill>
        <p:spPr>
          <a:xfrm>
            <a:off x="7242230" y="2583373"/>
            <a:ext cx="4345565" cy="427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531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CBA52-47AA-2582-F5CC-84AA42030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BEC75211-42DF-C72C-D83A-31756B850EF3}"/>
              </a:ext>
            </a:extLst>
          </p:cNvPr>
          <p:cNvSpPr txBox="1"/>
          <p:nvPr/>
        </p:nvSpPr>
        <p:spPr>
          <a:xfrm>
            <a:off x="308228" y="280893"/>
            <a:ext cx="95661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2400" b="1" i="1" dirty="0"/>
              <a:t>Processo di Match Lineare tra Archi TomTom e Segmenti PGTU</a:t>
            </a:r>
          </a:p>
        </p:txBody>
      </p:sp>
      <p:pic>
        <p:nvPicPr>
          <p:cNvPr id="3" name="Immagine 2" descr="Immagine che contiene schermata, euryalina, arte&#10;&#10;Il contenuto generato dall'IA potrebbe non essere corretto.">
            <a:extLst>
              <a:ext uri="{FF2B5EF4-FFF2-40B4-BE49-F238E27FC236}">
                <a16:creationId xmlns:a16="http://schemas.microsoft.com/office/drawing/2014/main" id="{4767B15E-DE8B-D88E-3B33-54C79B289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28" y="1359728"/>
            <a:ext cx="5425135" cy="4389319"/>
          </a:xfrm>
          <a:prstGeom prst="rect">
            <a:avLst/>
          </a:prstGeom>
        </p:spPr>
      </p:pic>
      <p:pic>
        <p:nvPicPr>
          <p:cNvPr id="5" name="Immagine 4" descr="Immagine che contiene testo, mappa, schermata&#10;&#10;Il contenuto generato dall'IA potrebbe non essere corretto.">
            <a:extLst>
              <a:ext uri="{FF2B5EF4-FFF2-40B4-BE49-F238E27FC236}">
                <a16:creationId xmlns:a16="http://schemas.microsoft.com/office/drawing/2014/main" id="{A1CD96A6-CF1C-4773-1441-BC810585D3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366" y="865238"/>
            <a:ext cx="5567713" cy="5944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042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8151F-1077-EA4B-320E-4457EE3E3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E32C231B-D1E3-F322-1FF3-562BF56BB8A1}"/>
              </a:ext>
            </a:extLst>
          </p:cNvPr>
          <p:cNvSpPr txBox="1"/>
          <p:nvPr/>
        </p:nvSpPr>
        <p:spPr>
          <a:xfrm>
            <a:off x="177666" y="251396"/>
            <a:ext cx="8995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2400" b="1" i="1" dirty="0"/>
              <a:t>Processo di Match Lineare tra Archi TomTom e Linee ATAC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5F2F89D-B00C-28FB-E410-A863E08194E2}"/>
              </a:ext>
            </a:extLst>
          </p:cNvPr>
          <p:cNvSpPr txBox="1"/>
          <p:nvPr/>
        </p:nvSpPr>
        <p:spPr>
          <a:xfrm>
            <a:off x="285136" y="856357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200" b="1" dirty="0"/>
              <a:t>Dati di partenza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200" b="1" dirty="0"/>
              <a:t>71.711</a:t>
            </a:r>
            <a:r>
              <a:rPr lang="it-IT" sz="1200" dirty="0"/>
              <a:t> archi TomTom con geometria valida.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200" dirty="0"/>
              <a:t>2.186 linee ATAC, di cui 902 attive.</a:t>
            </a:r>
            <a:br>
              <a:rPr lang="it-IT" sz="1200" dirty="0"/>
            </a:br>
            <a:endParaRPr lang="it-IT" sz="1200" dirty="0"/>
          </a:p>
          <a:p>
            <a:pPr>
              <a:buNone/>
            </a:pPr>
            <a:r>
              <a:rPr lang="it-IT" sz="1200" b="1" dirty="0"/>
              <a:t>Risultati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200" b="1" dirty="0"/>
              <a:t>51.040 archi TT</a:t>
            </a:r>
            <a:r>
              <a:rPr lang="it-IT" sz="1200" dirty="0"/>
              <a:t> associati ad ATAC (71,2%).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200" b="1" dirty="0"/>
              <a:t>20.671 archi TT</a:t>
            </a:r>
            <a:r>
              <a:rPr lang="it-IT" sz="1200" dirty="0"/>
              <a:t> senza corrispondenza (28,8%.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C67EE2F1-AA64-DE01-E0F6-083547DBB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12" t="44222" r="23556" b="4555"/>
          <a:stretch>
            <a:fillRect/>
          </a:stretch>
        </p:blipFill>
        <p:spPr>
          <a:xfrm>
            <a:off x="4994787" y="992335"/>
            <a:ext cx="5913120" cy="5574537"/>
          </a:xfrm>
          <a:prstGeom prst="rect">
            <a:avLst/>
          </a:prstGeom>
        </p:spPr>
      </p:pic>
      <p:pic>
        <p:nvPicPr>
          <p:cNvPr id="9" name="Immagine 8" descr="Immagine che contiene testo, mappa, diagramma, atlante&#10;&#10;Il contenuto generato dall'IA potrebbe non essere corretto.">
            <a:extLst>
              <a:ext uri="{FF2B5EF4-FFF2-40B4-BE49-F238E27FC236}">
                <a16:creationId xmlns:a16="http://schemas.microsoft.com/office/drawing/2014/main" id="{0C00AF34-41A5-C370-7743-0AB517A092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8" r="17521"/>
          <a:stretch>
            <a:fillRect/>
          </a:stretch>
        </p:blipFill>
        <p:spPr>
          <a:xfrm>
            <a:off x="541958" y="2384648"/>
            <a:ext cx="2995968" cy="439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421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1FDB7-C602-9293-64AA-43CE6B927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894D139E-AAB3-9541-C301-273777165FB9}"/>
              </a:ext>
            </a:extLst>
          </p:cNvPr>
          <p:cNvSpPr txBox="1"/>
          <p:nvPr/>
        </p:nvSpPr>
        <p:spPr>
          <a:xfrm>
            <a:off x="182880" y="173736"/>
            <a:ext cx="11027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atin typeface="Arial" panose="020B0604020202020204" pitchFamily="34" charset="0"/>
                <a:cs typeface="Arial" panose="020B0604020202020204" pitchFamily="34" charset="0"/>
              </a:rPr>
              <a:t>Strumenti di Analisi PGTU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E74B4F6-C851-C2CC-9C62-DE3D7CC04924}"/>
              </a:ext>
            </a:extLst>
          </p:cNvPr>
          <p:cNvSpPr txBox="1"/>
          <p:nvPr/>
        </p:nvSpPr>
        <p:spPr>
          <a:xfrm>
            <a:off x="308228" y="582066"/>
            <a:ext cx="7639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i="1" dirty="0"/>
              <a:t>Matching archi TomTom – Grande Viabilità </a:t>
            </a:r>
            <a:endParaRPr lang="it-IT" i="1" dirty="0"/>
          </a:p>
        </p:txBody>
      </p:sp>
      <p:pic>
        <p:nvPicPr>
          <p:cNvPr id="8" name="Immagine 7" descr="Immagine che contiene mappa&#10;&#10;Il contenuto generato dall'IA potrebbe non essere corretto.">
            <a:extLst>
              <a:ext uri="{FF2B5EF4-FFF2-40B4-BE49-F238E27FC236}">
                <a16:creationId xmlns:a16="http://schemas.microsoft.com/office/drawing/2014/main" id="{E00C1CDE-3163-982A-60A6-66F3529D15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5361" y="173736"/>
            <a:ext cx="6676639" cy="6676639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E591AA9-7398-9BA0-AE27-A40103F3FE91}"/>
              </a:ext>
            </a:extLst>
          </p:cNvPr>
          <p:cNvSpPr txBox="1"/>
          <p:nvPr/>
        </p:nvSpPr>
        <p:spPr>
          <a:xfrm>
            <a:off x="437010" y="942254"/>
            <a:ext cx="52720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it-IT" sz="1200" dirty="0"/>
              <a:t>È stato applicato lo stesso schema di matching geometrico usato per ATAC e PGTU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200" b="1" dirty="0"/>
              <a:t>26.237 archi</a:t>
            </a:r>
            <a:r>
              <a:rPr lang="it-IT" sz="1200" dirty="0"/>
              <a:t> con </a:t>
            </a:r>
            <a:r>
              <a:rPr lang="it-IT" sz="1200" dirty="0" err="1">
                <a:latin typeface="Courier New" panose="02070309020205020404" pitchFamily="49" charset="0"/>
              </a:rPr>
              <a:t>Is_GrandeViabilita</a:t>
            </a:r>
            <a:r>
              <a:rPr lang="it-IT" sz="1200" dirty="0">
                <a:latin typeface="Courier New" panose="02070309020205020404" pitchFamily="49" charset="0"/>
              </a:rPr>
              <a:t> = 1</a:t>
            </a:r>
            <a:endParaRPr lang="it-IT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 b="1" dirty="0"/>
              <a:t>67.986 archi</a:t>
            </a:r>
            <a:r>
              <a:rPr lang="it-IT" sz="1200" dirty="0"/>
              <a:t> con </a:t>
            </a:r>
            <a:r>
              <a:rPr lang="it-IT" sz="1200" dirty="0" err="1">
                <a:latin typeface="Courier New" panose="02070309020205020404" pitchFamily="49" charset="0"/>
              </a:rPr>
              <a:t>Is_GrandeViabilita</a:t>
            </a:r>
            <a:r>
              <a:rPr lang="it-IT" sz="1200" dirty="0">
                <a:latin typeface="Courier New" panose="02070309020205020404" pitchFamily="49" charset="0"/>
              </a:rPr>
              <a:t> = 0</a:t>
            </a:r>
            <a:endParaRPr lang="it-IT" sz="1200" dirty="0"/>
          </a:p>
          <a:p>
            <a:pPr>
              <a:buNone/>
            </a:pPr>
            <a:br>
              <a:rPr lang="it-IT" sz="1200" dirty="0"/>
            </a:br>
            <a:endParaRPr lang="it-IT" sz="1200" dirty="0"/>
          </a:p>
        </p:txBody>
      </p:sp>
    </p:spTree>
    <p:extLst>
      <p:ext uri="{BB962C8B-B14F-4D97-AF65-F5344CB8AC3E}">
        <p14:creationId xmlns:p14="http://schemas.microsoft.com/office/powerpoint/2010/main" val="19131689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B1B80-EC31-EC5A-FFF4-F28B0A8FE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DA96F9EF-38FE-279F-9BD3-E8AC8E8999E0}"/>
              </a:ext>
            </a:extLst>
          </p:cNvPr>
          <p:cNvSpPr txBox="1"/>
          <p:nvPr/>
        </p:nvSpPr>
        <p:spPr>
          <a:xfrm>
            <a:off x="182880" y="173736"/>
            <a:ext cx="11027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atin typeface="Arial" panose="020B0604020202020204" pitchFamily="34" charset="0"/>
                <a:cs typeface="Arial" panose="020B0604020202020204" pitchFamily="34" charset="0"/>
              </a:rPr>
              <a:t>Strumenti di Analisi PGTU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33C4991-C337-EF29-F13D-C8C829364214}"/>
              </a:ext>
            </a:extLst>
          </p:cNvPr>
          <p:cNvSpPr txBox="1"/>
          <p:nvPr/>
        </p:nvSpPr>
        <p:spPr>
          <a:xfrm>
            <a:off x="308228" y="582066"/>
            <a:ext cx="7639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i="1" dirty="0"/>
              <a:t>Creazione Tabelle di Sintesi</a:t>
            </a:r>
            <a:endParaRPr lang="it-IT" i="1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0033202F-3E0C-E045-97C9-A1BFD445D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04" y="1027208"/>
            <a:ext cx="9074921" cy="558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2827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E3850-B762-E389-1566-A69CBB88B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5F530ABB-B2E8-3811-B2AA-D7C244A71894}"/>
              </a:ext>
            </a:extLst>
          </p:cNvPr>
          <p:cNvSpPr txBox="1"/>
          <p:nvPr/>
        </p:nvSpPr>
        <p:spPr>
          <a:xfrm>
            <a:off x="182880" y="173736"/>
            <a:ext cx="11027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atin typeface="Arial" panose="020B0604020202020204" pitchFamily="34" charset="0"/>
                <a:cs typeface="Arial" panose="020B0604020202020204" pitchFamily="34" charset="0"/>
              </a:rPr>
              <a:t>Strumenti di Analisi PGTU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B2BC314-4821-AF33-5C2A-CA7A87BA6BDD}"/>
              </a:ext>
            </a:extLst>
          </p:cNvPr>
          <p:cNvSpPr txBox="1"/>
          <p:nvPr/>
        </p:nvSpPr>
        <p:spPr>
          <a:xfrm>
            <a:off x="308228" y="582066"/>
            <a:ext cx="7639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i="1" dirty="0"/>
              <a:t>Tabella di Sintesi</a:t>
            </a:r>
            <a:endParaRPr lang="it-IT" i="1"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2B367A8A-92C3-D80F-A4E3-FF9AEFE868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5083"/>
          <a:stretch>
            <a:fillRect/>
          </a:stretch>
        </p:blipFill>
        <p:spPr>
          <a:xfrm>
            <a:off x="483298" y="1198095"/>
            <a:ext cx="10677525" cy="323265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699AB3E4-FE73-4E70-B79E-928B530E3174}"/>
              </a:ext>
            </a:extLst>
          </p:cNvPr>
          <p:cNvSpPr txBox="1"/>
          <p:nvPr/>
        </p:nvSpPr>
        <p:spPr>
          <a:xfrm>
            <a:off x="483298" y="1768057"/>
            <a:ext cx="493762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400" b="1" dirty="0"/>
              <a:t>B2 – Parametro Soglia Flussi </a:t>
            </a:r>
            <a:r>
              <a:rPr lang="it-IT" sz="1400" dirty="0"/>
              <a:t>(i.e. 5000 veicoli/gg)</a:t>
            </a:r>
          </a:p>
          <a:p>
            <a:pPr>
              <a:buNone/>
            </a:pPr>
            <a:r>
              <a:rPr lang="it-IT" sz="1400" b="1" dirty="0"/>
              <a:t>C — Identificazione Strada: </a:t>
            </a:r>
            <a:r>
              <a:rPr lang="it-IT" sz="1400" dirty="0"/>
              <a:t>Nome unificato della strada, ottenuto dalla Toponomastica PGTU quando presente; altrimenti dal Nome Strada TomTom. È l’entità di aggregazione su cui vengono calcolati tutti gli indicatori.</a:t>
            </a:r>
          </a:p>
          <a:p>
            <a:pPr>
              <a:buNone/>
            </a:pPr>
            <a:endParaRPr lang="it-IT" sz="1400" dirty="0"/>
          </a:p>
          <a:p>
            <a:pPr>
              <a:buNone/>
            </a:pPr>
            <a:r>
              <a:rPr lang="it-IT" sz="1400" b="1" dirty="0"/>
              <a:t>🟦 Appartenenza alle reti pianificatorie</a:t>
            </a:r>
          </a:p>
          <a:p>
            <a:pPr>
              <a:buNone/>
            </a:pPr>
            <a:r>
              <a:rPr lang="it-IT" sz="1400" b="1" dirty="0"/>
              <a:t>D — </a:t>
            </a:r>
            <a:r>
              <a:rPr lang="it-IT" sz="1400" b="1" dirty="0" err="1"/>
              <a:t>Is_PGTU</a:t>
            </a:r>
            <a:r>
              <a:rPr lang="it-IT" sz="1400" b="1" dirty="0"/>
              <a:t>: </a:t>
            </a:r>
            <a:r>
              <a:rPr lang="it-IT" sz="1400" dirty="0"/>
              <a:t>Indica se la strada appartiene alla rete della viabilità principale PGTU (“Sì/No”)</a:t>
            </a:r>
            <a:r>
              <a:rPr lang="it-IT" sz="1400" b="1" dirty="0"/>
              <a:t> </a:t>
            </a:r>
          </a:p>
          <a:p>
            <a:pPr>
              <a:buNone/>
            </a:pPr>
            <a:r>
              <a:rPr lang="it-IT" sz="1400" b="1" dirty="0"/>
              <a:t>E — % PGTU: </a:t>
            </a:r>
            <a:r>
              <a:rPr lang="it-IT" sz="1400" dirty="0"/>
              <a:t>Percentuale della lunghezza totale della strada coperta da archi TomTom appartenenti al PGTU</a:t>
            </a:r>
          </a:p>
          <a:p>
            <a:pPr>
              <a:buNone/>
            </a:pPr>
            <a:r>
              <a:rPr lang="it-IT" sz="1400" b="1" dirty="0"/>
              <a:t>K — </a:t>
            </a:r>
            <a:r>
              <a:rPr lang="it-IT" sz="1400" b="1" dirty="0" err="1"/>
              <a:t>Is_TPL</a:t>
            </a:r>
            <a:r>
              <a:rPr lang="it-IT" sz="1400" b="1" dirty="0"/>
              <a:t>: </a:t>
            </a:r>
            <a:r>
              <a:rPr lang="it-IT" sz="1400" dirty="0"/>
              <a:t>Indica se la strada presenta archi TomTom associati alla rete ATAC</a:t>
            </a:r>
          </a:p>
          <a:p>
            <a:pPr>
              <a:buNone/>
            </a:pPr>
            <a:r>
              <a:rPr lang="it-IT" sz="1400" b="1" dirty="0"/>
              <a:t>L — % TPL: </a:t>
            </a:r>
            <a:r>
              <a:rPr lang="it-IT" sz="1400" dirty="0"/>
              <a:t>Percentuale della lunghezza della strada per cui gli archi TomTom risultano associati alla rete ATAC</a:t>
            </a:r>
          </a:p>
          <a:p>
            <a:r>
              <a:rPr lang="it-IT" sz="1400" b="1" dirty="0"/>
              <a:t>M — </a:t>
            </a:r>
            <a:r>
              <a:rPr lang="it-IT" sz="1400" b="1" dirty="0" err="1"/>
              <a:t>Is_GV</a:t>
            </a:r>
            <a:r>
              <a:rPr lang="it-IT" sz="1400" b="1" dirty="0"/>
              <a:t>: </a:t>
            </a:r>
            <a:r>
              <a:rPr lang="it-IT" sz="1400" dirty="0"/>
              <a:t>Indica se la strada presenta archi TomTom associati alla Grande Viabilità</a:t>
            </a:r>
          </a:p>
          <a:p>
            <a:pPr>
              <a:buNone/>
            </a:pPr>
            <a:r>
              <a:rPr lang="it-IT" sz="1400" b="1" dirty="0"/>
              <a:t>N — % GV:  </a:t>
            </a:r>
            <a:r>
              <a:rPr lang="it-IT" sz="1400" dirty="0"/>
              <a:t>Percentuale della lunghezza totale della strada che ricade nella rete di Grande Viabilità.</a:t>
            </a:r>
          </a:p>
          <a:p>
            <a:pPr>
              <a:buNone/>
            </a:pPr>
            <a:br>
              <a:rPr lang="it-IT" sz="1400" dirty="0"/>
            </a:br>
            <a:endParaRPr lang="it-IT" sz="1400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8AF45EE-94FD-A60F-B8E4-3AD6AADC9276}"/>
              </a:ext>
            </a:extLst>
          </p:cNvPr>
          <p:cNvSpPr txBox="1"/>
          <p:nvPr/>
        </p:nvSpPr>
        <p:spPr>
          <a:xfrm>
            <a:off x="5914447" y="1521360"/>
            <a:ext cx="529609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it-IT" sz="1400" dirty="0"/>
          </a:p>
          <a:p>
            <a:pPr>
              <a:buNone/>
            </a:pPr>
            <a:r>
              <a:rPr lang="it-IT" sz="1400" b="1" dirty="0"/>
              <a:t>🟩 Indicatori di traffico TomTom</a:t>
            </a:r>
          </a:p>
          <a:p>
            <a:pPr>
              <a:buNone/>
            </a:pPr>
            <a:r>
              <a:rPr lang="it-IT" sz="1400" b="1" dirty="0"/>
              <a:t>F — Flusso medio pesato: </a:t>
            </a:r>
            <a:r>
              <a:rPr lang="it-IT" sz="1400" dirty="0"/>
              <a:t>Media dei flussi giornalieri TomTom, pesata per la lunghezza dei singoli archi</a:t>
            </a:r>
          </a:p>
          <a:p>
            <a:pPr>
              <a:buNone/>
            </a:pPr>
            <a:r>
              <a:rPr lang="it-IT" sz="1400" b="1" dirty="0"/>
              <a:t>G — Flusso Min: </a:t>
            </a:r>
            <a:r>
              <a:rPr lang="it-IT" sz="1400" dirty="0"/>
              <a:t>Minimo valore di flusso giornaliero osservato tra gli archi TomTom della strada</a:t>
            </a:r>
          </a:p>
          <a:p>
            <a:pPr>
              <a:buNone/>
            </a:pPr>
            <a:r>
              <a:rPr lang="it-IT" sz="1400" b="1" dirty="0"/>
              <a:t>H — Flusso Max: </a:t>
            </a:r>
            <a:r>
              <a:rPr lang="it-IT" sz="1400" dirty="0"/>
              <a:t>Massimo valore di flusso giornaliero tra gli archi della strada</a:t>
            </a:r>
          </a:p>
          <a:p>
            <a:pPr>
              <a:buNone/>
            </a:pPr>
            <a:r>
              <a:rPr lang="it-IT" sz="1400" b="1" dirty="0"/>
              <a:t>I — % &gt; Soglia Flussi </a:t>
            </a:r>
            <a:r>
              <a:rPr lang="it-IT" sz="1400" dirty="0"/>
              <a:t>Percentuale della lunghezza della strada in cui il flusso TomTom supera la soglia definita (cella parametro B2)</a:t>
            </a:r>
          </a:p>
        </p:txBody>
      </p:sp>
    </p:spTree>
    <p:extLst>
      <p:ext uri="{BB962C8B-B14F-4D97-AF65-F5344CB8AC3E}">
        <p14:creationId xmlns:p14="http://schemas.microsoft.com/office/powerpoint/2010/main" val="817440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E84E3-C70A-0614-64EA-3AD92DA89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F2CD7C8C-4BFA-505A-D51D-EEBAA77623B5}"/>
              </a:ext>
            </a:extLst>
          </p:cNvPr>
          <p:cNvSpPr txBox="1"/>
          <p:nvPr/>
        </p:nvSpPr>
        <p:spPr>
          <a:xfrm>
            <a:off x="182880" y="173736"/>
            <a:ext cx="11027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atin typeface="Arial" panose="020B0604020202020204" pitchFamily="34" charset="0"/>
                <a:cs typeface="Arial" panose="020B0604020202020204" pitchFamily="34" charset="0"/>
              </a:rPr>
              <a:t>Strumenti di Analisi PGTU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3C04947-4A5B-D88D-D790-654A1ACD7559}"/>
              </a:ext>
            </a:extLst>
          </p:cNvPr>
          <p:cNvSpPr txBox="1"/>
          <p:nvPr/>
        </p:nvSpPr>
        <p:spPr>
          <a:xfrm>
            <a:off x="308228" y="582066"/>
            <a:ext cx="7639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i="1" dirty="0"/>
              <a:t>Tabella di Sintesi – Casi d’Uso</a:t>
            </a:r>
            <a:endParaRPr lang="it-IT" i="1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3BF4C6A-1272-FE78-249B-C3B99D5CCD53}"/>
              </a:ext>
            </a:extLst>
          </p:cNvPr>
          <p:cNvSpPr txBox="1"/>
          <p:nvPr/>
        </p:nvSpPr>
        <p:spPr>
          <a:xfrm>
            <a:off x="308228" y="1105286"/>
            <a:ext cx="60973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200" b="1" dirty="0"/>
              <a:t>Caso d’uso 1 — Strade PGTU senza copertura TomTom</a:t>
            </a:r>
            <a:br>
              <a:rPr lang="it-IT" sz="1200" dirty="0"/>
            </a:br>
            <a:r>
              <a:rPr lang="it-IT" sz="1200" dirty="0"/>
              <a:t>Identifica le strade del PGTU per cui </a:t>
            </a:r>
            <a:r>
              <a:rPr lang="it-IT" sz="1200" b="1" dirty="0"/>
              <a:t>non sono disponibili dati TomTom utilizzabili </a:t>
            </a:r>
            <a:r>
              <a:rPr lang="it-IT" sz="1200" dirty="0"/>
              <a:t>(assenza totale di archi o flussi &lt; 1000 </a:t>
            </a:r>
            <a:r>
              <a:rPr lang="it-IT" sz="1200" dirty="0" err="1"/>
              <a:t>veic</a:t>
            </a:r>
            <a:r>
              <a:rPr lang="it-IT" sz="1200" dirty="0"/>
              <a:t>/gg)</a:t>
            </a:r>
          </a:p>
          <a:p>
            <a:pPr lvl="1"/>
            <a:r>
              <a:rPr lang="it-IT" sz="1200" b="1" dirty="0"/>
              <a:t>Filtri da applicare nella Tabella Sintesi:</a:t>
            </a:r>
            <a:endParaRPr lang="it-IT" sz="12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i="1" dirty="0" err="1"/>
              <a:t>Is_PGTU</a:t>
            </a:r>
            <a:r>
              <a:rPr lang="it-IT" sz="1200" i="1" dirty="0"/>
              <a:t> = “Sì”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i="1" dirty="0"/>
              <a:t>Flusso medio = (vuoto)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F2E837D9-81F6-059A-5CB6-E3FE208D7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28" y="5336021"/>
            <a:ext cx="4454965" cy="833386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B281E8FA-38AF-D42B-2667-CD6AD6795636}"/>
              </a:ext>
            </a:extLst>
          </p:cNvPr>
          <p:cNvSpPr txBox="1"/>
          <p:nvPr/>
        </p:nvSpPr>
        <p:spPr>
          <a:xfrm>
            <a:off x="6083552" y="23921"/>
            <a:ext cx="57877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200" b="1" dirty="0"/>
              <a:t>Caso d’uso 2 — Strade NON PGTU ma con forti flussi TomTom</a:t>
            </a:r>
          </a:p>
          <a:p>
            <a:pPr>
              <a:buNone/>
            </a:pPr>
            <a:r>
              <a:rPr lang="it-IT" sz="1200" dirty="0"/>
              <a:t>Identifica</a:t>
            </a:r>
            <a:r>
              <a:rPr lang="it-IT" sz="1200" b="1" dirty="0"/>
              <a:t> </a:t>
            </a:r>
            <a:r>
              <a:rPr lang="it-IT" sz="1200" dirty="0"/>
              <a:t>le strade </a:t>
            </a:r>
            <a:r>
              <a:rPr lang="it-IT" sz="1200" b="1" dirty="0"/>
              <a:t>non presenti nel PGTU</a:t>
            </a:r>
            <a:r>
              <a:rPr lang="it-IT" sz="1200" dirty="0"/>
              <a:t> ma che mostrano </a:t>
            </a:r>
            <a:r>
              <a:rPr lang="it-IT" sz="1200" b="1" dirty="0"/>
              <a:t>flussi significativi.</a:t>
            </a:r>
            <a:endParaRPr lang="it-IT" sz="1200" dirty="0"/>
          </a:p>
          <a:p>
            <a:pPr lvl="1"/>
            <a:r>
              <a:rPr lang="it-IT" sz="1200" b="1" dirty="0"/>
              <a:t>Filtri da applicare nella Tabella Sintesi:</a:t>
            </a:r>
            <a:endParaRPr lang="it-IT" sz="12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b="1" dirty="0" err="1"/>
              <a:t>Is_PGTU</a:t>
            </a:r>
            <a:r>
              <a:rPr lang="it-IT" sz="1200" b="1" dirty="0"/>
              <a:t> = “No”</a:t>
            </a:r>
            <a:endParaRPr lang="it-IT" sz="12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b="1" dirty="0"/>
              <a:t>Flusso medio &gt; soglia</a:t>
            </a:r>
            <a:r>
              <a:rPr lang="it-IT" sz="1200" dirty="0"/>
              <a:t> (es. &gt; 5000 </a:t>
            </a:r>
            <a:r>
              <a:rPr lang="it-IT" sz="1200" dirty="0" err="1"/>
              <a:t>veic</a:t>
            </a:r>
            <a:r>
              <a:rPr lang="it-IT" sz="1200" dirty="0"/>
              <a:t>/gg)</a:t>
            </a:r>
            <a:br>
              <a:rPr lang="it-IT" sz="1200" dirty="0"/>
            </a:br>
            <a:r>
              <a:rPr lang="it-IT" sz="1200" i="1" dirty="0"/>
              <a:t>(oppure: % Lunghezza &gt; Soglia Flussi &gt; 0)</a:t>
            </a:r>
            <a:endParaRPr lang="it-IT" sz="1200" dirty="0"/>
          </a:p>
          <a:p>
            <a:pPr>
              <a:buNone/>
            </a:pPr>
            <a:endParaRPr lang="it-IT" sz="1200" dirty="0"/>
          </a:p>
          <a:p>
            <a:pPr>
              <a:buNone/>
            </a:pPr>
            <a:r>
              <a:rPr lang="it-IT" sz="1200" dirty="0"/>
              <a:t>Un ulteriore filtro su % Lunghezza &gt; Soglia Flussi &gt; i.e. 50% permette di individuare strade con flussi alti consistenti lungo il tracciato.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4CC5CBB1-389F-C9FC-DFAD-ABD740E68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228" y="2305614"/>
            <a:ext cx="4482040" cy="2821121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E6200E7D-6106-CC5C-8D7F-45568A80A8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8254" y="1778247"/>
            <a:ext cx="4992290" cy="3348488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36B53DE-D20F-94D6-F0FB-BB51EB45B305}"/>
              </a:ext>
            </a:extLst>
          </p:cNvPr>
          <p:cNvSpPr txBox="1"/>
          <p:nvPr/>
        </p:nvSpPr>
        <p:spPr>
          <a:xfrm>
            <a:off x="6218254" y="5336021"/>
            <a:ext cx="54781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200" b="1" dirty="0"/>
              <a:t>Caso d’uso 3 — Strade non PGTU con valori di flusso min/max significativi</a:t>
            </a:r>
            <a:br>
              <a:rPr lang="it-IT" sz="1200" dirty="0"/>
            </a:br>
            <a:r>
              <a:rPr lang="it-IT" sz="1200" dirty="0"/>
              <a:t>Identifica strade </a:t>
            </a:r>
            <a:r>
              <a:rPr lang="it-IT" sz="1200" b="1" dirty="0"/>
              <a:t>non presenti nel PGTU</a:t>
            </a:r>
            <a:r>
              <a:rPr lang="it-IT" sz="1200" dirty="0"/>
              <a:t> che presentano </a:t>
            </a:r>
            <a:r>
              <a:rPr lang="it-IT" sz="1200" b="1" dirty="0"/>
              <a:t>valori estremi</a:t>
            </a:r>
            <a:r>
              <a:rPr lang="it-IT" sz="1200" dirty="0"/>
              <a:t> (minimi o massimi) utili per identificare tratti critici o colli di bottiglia</a:t>
            </a:r>
          </a:p>
          <a:p>
            <a:pPr lvl="1"/>
            <a:r>
              <a:rPr lang="it-IT" sz="1200" b="1" dirty="0"/>
              <a:t>Filtri da applicare nella Tabella Sintesi:</a:t>
            </a:r>
            <a:endParaRPr lang="it-IT" sz="12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b="1" dirty="0" err="1"/>
              <a:t>Is_PGTU</a:t>
            </a:r>
            <a:r>
              <a:rPr lang="it-IT" sz="1200" b="1" dirty="0"/>
              <a:t> = “No”</a:t>
            </a:r>
            <a:endParaRPr lang="it-IT" sz="12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b="1" dirty="0"/>
              <a:t>Flusso Max (o Min) &gt; soglia</a:t>
            </a:r>
            <a:r>
              <a:rPr lang="it-IT" sz="1200" dirty="0"/>
              <a:t> </a:t>
            </a:r>
            <a:r>
              <a:rPr lang="it-IT" sz="1200" i="1" dirty="0"/>
              <a:t>(es. &gt; 10000 </a:t>
            </a:r>
            <a:r>
              <a:rPr lang="it-IT" sz="1200" i="1" dirty="0" err="1"/>
              <a:t>veic</a:t>
            </a:r>
            <a:r>
              <a:rPr lang="it-IT" sz="1200" i="1" dirty="0"/>
              <a:t>/gg)  &amp; </a:t>
            </a:r>
            <a:r>
              <a:rPr lang="it-IT" sz="1200" b="1" dirty="0"/>
              <a:t>Flusso Medio &lt; soglia</a:t>
            </a:r>
            <a:r>
              <a:rPr lang="it-IT" sz="1200" dirty="0"/>
              <a:t> </a:t>
            </a:r>
            <a:endParaRPr lang="it-IT" sz="1200" i="1" dirty="0"/>
          </a:p>
          <a:p>
            <a:pPr lvl="1"/>
            <a:br>
              <a:rPr lang="it-IT" sz="1200" dirty="0"/>
            </a:br>
            <a:endParaRPr lang="it-IT" sz="1200" dirty="0"/>
          </a:p>
        </p:txBody>
      </p:sp>
    </p:spTree>
    <p:extLst>
      <p:ext uri="{BB962C8B-B14F-4D97-AF65-F5344CB8AC3E}">
        <p14:creationId xmlns:p14="http://schemas.microsoft.com/office/powerpoint/2010/main" val="31040069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44995-3D1D-DF92-9FDC-30037DFAC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4F2CCCB8-2BC1-20F5-473A-F5C2444485B7}"/>
              </a:ext>
            </a:extLst>
          </p:cNvPr>
          <p:cNvSpPr txBox="1"/>
          <p:nvPr/>
        </p:nvSpPr>
        <p:spPr>
          <a:xfrm>
            <a:off x="182880" y="173736"/>
            <a:ext cx="11027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atin typeface="Arial" panose="020B0604020202020204" pitchFamily="34" charset="0"/>
                <a:cs typeface="Arial" panose="020B0604020202020204" pitchFamily="34" charset="0"/>
              </a:rPr>
              <a:t>Strumenti di Analisi PGTU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B291BD0-B7B0-7C8B-E92B-02E79D99AD49}"/>
              </a:ext>
            </a:extLst>
          </p:cNvPr>
          <p:cNvSpPr txBox="1"/>
          <p:nvPr/>
        </p:nvSpPr>
        <p:spPr>
          <a:xfrm>
            <a:off x="308228" y="582066"/>
            <a:ext cx="7639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i="1" dirty="0"/>
              <a:t>Tabella di Sintesi – Casi d’Uso</a:t>
            </a:r>
            <a:endParaRPr lang="it-IT" i="1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BEABB9E-2E9C-F87D-491C-DE70F98C32F9}"/>
              </a:ext>
            </a:extLst>
          </p:cNvPr>
          <p:cNvSpPr txBox="1"/>
          <p:nvPr/>
        </p:nvSpPr>
        <p:spPr>
          <a:xfrm>
            <a:off x="308228" y="951398"/>
            <a:ext cx="52632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200" b="1" dirty="0"/>
              <a:t>Caso d'Uso 4 — Strade servite da ATAC ma non presenti nel PGTU</a:t>
            </a:r>
          </a:p>
          <a:p>
            <a:pPr>
              <a:buNone/>
            </a:pPr>
            <a:r>
              <a:rPr lang="it-IT" sz="1200" dirty="0"/>
              <a:t>Identifica le strade che </a:t>
            </a:r>
            <a:r>
              <a:rPr lang="it-IT" sz="1200" b="1" dirty="0"/>
              <a:t>risultano percorse da linee ATAC</a:t>
            </a:r>
            <a:r>
              <a:rPr lang="it-IT" sz="1200" dirty="0"/>
              <a:t>, ma </a:t>
            </a:r>
            <a:r>
              <a:rPr lang="it-IT" sz="1200" b="1" dirty="0"/>
              <a:t>non sono classificate come viabilità principale nel PGTU</a:t>
            </a:r>
            <a:r>
              <a:rPr lang="it-IT" sz="1200" dirty="0"/>
              <a:t>. Serve per evidenziare tratti che </a:t>
            </a:r>
            <a:r>
              <a:rPr lang="it-IT" sz="1200" b="1" dirty="0"/>
              <a:t>assumono rilevanza funzionale</a:t>
            </a:r>
            <a:r>
              <a:rPr lang="it-IT" sz="1200" dirty="0"/>
              <a:t> grazie al servizio di trasporto pubblico.</a:t>
            </a:r>
            <a:br>
              <a:rPr lang="it-IT" sz="1200" dirty="0"/>
            </a:br>
            <a:endParaRPr lang="it-IT" sz="1200" dirty="0"/>
          </a:p>
          <a:p>
            <a:pPr lvl="1"/>
            <a:r>
              <a:rPr lang="it-IT" sz="1200" b="1" dirty="0"/>
              <a:t>Filtri da applicare nella Tabella Sintesi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dirty="0" err="1">
                <a:latin typeface="Courier New" panose="02070309020205020404" pitchFamily="49" charset="0"/>
              </a:rPr>
              <a:t>Is_PGTU</a:t>
            </a:r>
            <a:r>
              <a:rPr lang="it-IT" sz="1200" dirty="0">
                <a:latin typeface="Courier New" panose="02070309020205020404" pitchFamily="49" charset="0"/>
              </a:rPr>
              <a:t> = "No"</a:t>
            </a:r>
            <a:endParaRPr lang="it-IT" sz="12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200" dirty="0" err="1">
                <a:latin typeface="Courier New" panose="02070309020205020404" pitchFamily="49" charset="0"/>
              </a:rPr>
              <a:t>Is_ATAC</a:t>
            </a:r>
            <a:r>
              <a:rPr lang="it-IT" sz="1200" dirty="0">
                <a:latin typeface="Courier New" panose="02070309020205020404" pitchFamily="49" charset="0"/>
              </a:rPr>
              <a:t> = "Sì"</a:t>
            </a:r>
            <a:endParaRPr lang="it-IT" sz="1200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EB37F637-E99E-AC9D-2BF0-F4BA0A27D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227" y="2690196"/>
            <a:ext cx="5730685" cy="3686874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05DD238-43BE-71FC-5795-EAF33D6B4E9D}"/>
              </a:ext>
            </a:extLst>
          </p:cNvPr>
          <p:cNvSpPr txBox="1"/>
          <p:nvPr/>
        </p:nvSpPr>
        <p:spPr>
          <a:xfrm>
            <a:off x="6389480" y="951398"/>
            <a:ext cx="5263238" cy="1823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b="1" dirty="0"/>
              <a:t>Caso d'Uso 5 — Strade classificate PGTU ma senza copertura ATAC</a:t>
            </a:r>
          </a:p>
          <a:p>
            <a:r>
              <a:rPr lang="it-IT" sz="1200" dirty="0"/>
              <a:t>Identifica le strade che </a:t>
            </a:r>
            <a:r>
              <a:rPr lang="it-IT" sz="1200" b="1" dirty="0"/>
              <a:t>appartengono al PGTU</a:t>
            </a:r>
            <a:r>
              <a:rPr lang="it-IT" sz="1200" dirty="0"/>
              <a:t> ma che </a:t>
            </a:r>
            <a:r>
              <a:rPr lang="it-IT" sz="1200" b="1" dirty="0"/>
              <a:t>non risultano attraversate da linee ATAC.</a:t>
            </a:r>
            <a:br>
              <a:rPr lang="it-IT" sz="1200" dirty="0"/>
            </a:br>
            <a:endParaRPr lang="it-IT" sz="1200" dirty="0"/>
          </a:p>
          <a:p>
            <a:r>
              <a:rPr lang="it-IT" sz="1200" b="1" dirty="0"/>
              <a:t>Filtri da applicare nella Tabella Sintesi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Is_PGTU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"Sì"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Is_ATAC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"No"</a:t>
            </a:r>
            <a:b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oppure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% ATAC = 0%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6666E623-D8D9-3D6A-429B-4FB5E41C39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615" y="2690196"/>
            <a:ext cx="5616157" cy="368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250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32FF1-2AE0-3402-D921-991203F9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833F843E-3E3F-F94B-BF9E-3F4F9ECC6D56}"/>
              </a:ext>
            </a:extLst>
          </p:cNvPr>
          <p:cNvSpPr txBox="1"/>
          <p:nvPr/>
        </p:nvSpPr>
        <p:spPr>
          <a:xfrm>
            <a:off x="182880" y="173736"/>
            <a:ext cx="11027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atin typeface="Arial" panose="020B0604020202020204" pitchFamily="34" charset="0"/>
                <a:cs typeface="Arial" panose="020B0604020202020204" pitchFamily="34" charset="0"/>
              </a:rPr>
              <a:t>Strumenti di Analisi PGTU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FF24BFE-8987-710C-DAC9-B57A2B5E636A}"/>
              </a:ext>
            </a:extLst>
          </p:cNvPr>
          <p:cNvSpPr txBox="1"/>
          <p:nvPr/>
        </p:nvSpPr>
        <p:spPr>
          <a:xfrm>
            <a:off x="308228" y="582066"/>
            <a:ext cx="7639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i="1" dirty="0"/>
              <a:t>Tabella di Sintesi – Casi d’Uso</a:t>
            </a:r>
            <a:endParaRPr lang="it-IT" i="1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3F043BB-B752-7E12-A0FD-57A0A534DCAF}"/>
              </a:ext>
            </a:extLst>
          </p:cNvPr>
          <p:cNvSpPr txBox="1"/>
          <p:nvPr/>
        </p:nvSpPr>
        <p:spPr>
          <a:xfrm>
            <a:off x="308228" y="951398"/>
            <a:ext cx="52632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b="1" dirty="0"/>
              <a:t>Caso d’Uso 6 — Strade della Grande Viabilità non presenti nel PGTU</a:t>
            </a:r>
          </a:p>
          <a:p>
            <a:r>
              <a:rPr lang="it-IT" sz="1200" dirty="0"/>
              <a:t>Identifica le strade appartenenti alla </a:t>
            </a:r>
            <a:r>
              <a:rPr lang="it-IT" sz="1200" b="1" dirty="0"/>
              <a:t>Grande Viabilità (GV)</a:t>
            </a:r>
            <a:r>
              <a:rPr lang="it-IT" sz="1200" dirty="0"/>
              <a:t> che </a:t>
            </a:r>
            <a:r>
              <a:rPr lang="it-IT" sz="1200" b="1" dirty="0"/>
              <a:t>non risultano classificate come viabilità principale nel PGTU</a:t>
            </a:r>
            <a:r>
              <a:rPr lang="it-IT" sz="1200" dirty="0"/>
              <a:t>.</a:t>
            </a:r>
            <a:br>
              <a:rPr lang="it-IT" sz="1200" dirty="0"/>
            </a:br>
            <a:endParaRPr lang="it-IT" sz="1200" dirty="0"/>
          </a:p>
          <a:p>
            <a:r>
              <a:rPr lang="it-IT" sz="1200" b="1" dirty="0"/>
              <a:t>Filtri da applicare nella Tabella Sintesi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Is_GV</a:t>
            </a:r>
            <a:r>
              <a:rPr lang="it-IT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Sì </a:t>
            </a:r>
            <a:r>
              <a:rPr lang="it-IT" sz="1200" i="1" dirty="0">
                <a:latin typeface="Courier New" panose="02070309020205020404" pitchFamily="49" charset="0"/>
                <a:cs typeface="Courier New" panose="02070309020205020404" pitchFamily="49" charset="0"/>
              </a:rPr>
              <a:t>(la strada appartiene alla Grande Viabilità)</a:t>
            </a:r>
            <a:endParaRPr lang="it-IT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Is_PGTU</a:t>
            </a:r>
            <a:r>
              <a:rPr lang="it-IT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No </a:t>
            </a:r>
            <a:r>
              <a:rPr lang="it-IT" sz="1200" i="1" dirty="0">
                <a:latin typeface="Courier New" panose="02070309020205020404" pitchFamily="49" charset="0"/>
                <a:cs typeface="Courier New" panose="02070309020205020404" pitchFamily="49" charset="0"/>
              </a:rPr>
              <a:t>(la strada non risulta nel PGTU)</a:t>
            </a:r>
            <a:endParaRPr lang="it-IT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B9D469AC-11DB-4746-BF08-276EBD5B9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228" y="2589059"/>
            <a:ext cx="5448214" cy="3860902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C043766A-C8C9-0725-FEB2-F35E47F86010}"/>
              </a:ext>
            </a:extLst>
          </p:cNvPr>
          <p:cNvSpPr txBox="1"/>
          <p:nvPr/>
        </p:nvSpPr>
        <p:spPr>
          <a:xfrm>
            <a:off x="6263148" y="951398"/>
            <a:ext cx="562062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200" b="1" dirty="0"/>
              <a:t>Caso d’Uso 7 — Strade presenti nel PGTU ma non nella Grande Viabilità</a:t>
            </a:r>
          </a:p>
          <a:p>
            <a:pPr>
              <a:buNone/>
            </a:pPr>
            <a:r>
              <a:rPr lang="it-IT" sz="1200" dirty="0"/>
              <a:t>Identifica le strade che il </a:t>
            </a:r>
            <a:r>
              <a:rPr lang="it-IT" sz="1200" b="1" dirty="0"/>
              <a:t>PGTU considera parte della propria rete della viabilità principale</a:t>
            </a:r>
            <a:r>
              <a:rPr lang="it-IT" sz="1200" dirty="0"/>
              <a:t> ma che </a:t>
            </a:r>
            <a:r>
              <a:rPr lang="it-IT" sz="1200" b="1" dirty="0"/>
              <a:t>non risultano nella rete della Grande Viabilità 2019</a:t>
            </a:r>
            <a:r>
              <a:rPr lang="it-IT" sz="1200" dirty="0"/>
              <a:t>.</a:t>
            </a:r>
          </a:p>
          <a:p>
            <a:pPr>
              <a:buNone/>
            </a:pPr>
            <a:endParaRPr lang="it-IT" sz="1200" dirty="0"/>
          </a:p>
          <a:p>
            <a:pPr>
              <a:buNone/>
            </a:pPr>
            <a:r>
              <a:rPr lang="it-IT" sz="1200" b="1" dirty="0"/>
              <a:t>Filtri da applicare nella Tabella Sintesi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Is_PGTU</a:t>
            </a:r>
            <a:r>
              <a:rPr lang="it-IT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Sì 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sz="1200" i="1" dirty="0">
                <a:latin typeface="Courier New" panose="02070309020205020404" pitchFamily="49" charset="0"/>
                <a:cs typeface="Courier New" panose="02070309020205020404" pitchFamily="49" charset="0"/>
              </a:rPr>
              <a:t>la strada è nella rete PGTU)</a:t>
            </a:r>
            <a:endParaRPr lang="it-IT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it-IT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Is_GV</a:t>
            </a:r>
            <a:r>
              <a:rPr lang="it-IT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No</a:t>
            </a:r>
            <a:r>
              <a:rPr lang="it-IT" sz="1200" i="1" dirty="0">
                <a:latin typeface="Courier New" panose="02070309020205020404" pitchFamily="49" charset="0"/>
                <a:cs typeface="Courier New" panose="02070309020205020404" pitchFamily="49" charset="0"/>
              </a:rPr>
              <a:t>(la strada non appartiene alla Grande Viabilità)</a:t>
            </a:r>
            <a:endParaRPr lang="it-IT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9640780-33FE-6E03-54D9-5C42195790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183" y="2676072"/>
            <a:ext cx="5972589" cy="368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3981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1633</TotalTime>
  <Words>4440</Words>
  <Application>Microsoft Office PowerPoint</Application>
  <PresentationFormat>Widescreen</PresentationFormat>
  <Paragraphs>418</Paragraphs>
  <Slides>23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Courier New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Marisdea Castiglione</dc:creator>
  <cp:lastModifiedBy>Marisdea Castiglione</cp:lastModifiedBy>
  <cp:revision>11</cp:revision>
  <dcterms:created xsi:type="dcterms:W3CDTF">2025-11-26T13:42:26Z</dcterms:created>
  <dcterms:modified xsi:type="dcterms:W3CDTF">2025-11-28T09:20:26Z</dcterms:modified>
</cp:coreProperties>
</file>